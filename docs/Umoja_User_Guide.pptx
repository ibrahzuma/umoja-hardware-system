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94560"/>
            <a:ext cx="10698480" cy="1097280"/>
          </a:xfrm>
          <a:prstGeom prst="rect">
            <a:avLst/>
          </a:prstGeom>
          <a:noFill/>
        </p:spPr>
        <p:txBody>
          <a:bodyPr wrap="square" lIns="0" rIns="0">
            <a:spAutoFit/>
          </a:bodyPr>
          <a:lstStyle/>
          <a:p>
            <a:pPr algn="l"/>
            <a:r>
              <a:rPr sz="4400" b="1">
                <a:solidFill>
                  <a:srgbClr val="FFFFFF"/>
                </a:solidFill>
                <a:latin typeface="Calibri"/>
              </a:rPr>
              <a:t>UMOJA HARDWARE SYSTEM</a:t>
            </a:r>
          </a:p>
        </p:txBody>
      </p:sp>
      <p:sp>
        <p:nvSpPr>
          <p:cNvPr id="4" name="TextBox 3"/>
          <p:cNvSpPr txBox="1"/>
          <p:nvPr/>
        </p:nvSpPr>
        <p:spPr>
          <a:xfrm>
            <a:off x="731520" y="3200400"/>
            <a:ext cx="10698480" cy="731520"/>
          </a:xfrm>
          <a:prstGeom prst="rect">
            <a:avLst/>
          </a:prstGeom>
          <a:noFill/>
        </p:spPr>
        <p:txBody>
          <a:bodyPr wrap="square" lIns="0" rIns="0">
            <a:spAutoFit/>
          </a:bodyPr>
          <a:lstStyle/>
          <a:p>
            <a:pPr algn="l"/>
            <a:r>
              <a:rPr sz="2000" b="0">
                <a:solidFill>
                  <a:srgbClr val="B9C4FF"/>
                </a:solidFill>
                <a:latin typeface="Calibri"/>
              </a:rPr>
              <a:t>A role-by-role guide, with a real end-to-end sale walkthrough</a:t>
            </a:r>
          </a:p>
        </p:txBody>
      </p:sp>
      <p:sp>
        <p:nvSpPr>
          <p:cNvPr id="5" name="TextBox 4"/>
          <p:cNvSpPr txBox="1"/>
          <p:nvPr/>
        </p:nvSpPr>
        <p:spPr>
          <a:xfrm>
            <a:off x="731520" y="5943600"/>
            <a:ext cx="10698480" cy="548640"/>
          </a:xfrm>
          <a:prstGeom prst="rect">
            <a:avLst/>
          </a:prstGeom>
          <a:noFill/>
        </p:spPr>
        <p:txBody>
          <a:bodyPr wrap="square" lIns="0" rIns="0">
            <a:spAutoFit/>
          </a:bodyPr>
          <a:lstStyle/>
          <a:p>
            <a:pPr algn="l"/>
            <a:r>
              <a:rPr sz="1400" b="0">
                <a:solidFill>
                  <a:srgbClr val="9AA4B5"/>
                </a:solidFill>
                <a:latin typeface="Calibri"/>
              </a:rPr>
              <a:t>umoja.ehub.co.tz   ·   Umoja Pro mobile 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731520"/>
          </a:xfrm>
          <a:prstGeom prst="rect">
            <a:avLst/>
          </a:prstGeom>
          <a:noFill/>
        </p:spPr>
        <p:txBody>
          <a:bodyPr wrap="square" lIns="0" rIns="0">
            <a:spAutoFit/>
          </a:bodyPr>
          <a:lstStyle/>
          <a:p>
            <a:pPr algn="l"/>
            <a:r>
              <a:rPr sz="3200" b="1">
                <a:solidFill>
                  <a:srgbClr val="141A23"/>
                </a:solidFill>
                <a:latin typeface="Calibri"/>
              </a:rPr>
              <a:t>How to read this guide</a:t>
            </a:r>
          </a:p>
        </p:txBody>
      </p:sp>
      <p:sp>
        <p:nvSpPr>
          <p:cNvPr id="3" name="TextBox 2"/>
          <p:cNvSpPr txBox="1"/>
          <p:nvPr/>
        </p:nvSpPr>
        <p:spPr>
          <a:xfrm>
            <a:off x="548640" y="1371600"/>
            <a:ext cx="10972800" cy="1188720"/>
          </a:xfrm>
          <a:prstGeom prst="rect">
            <a:avLst/>
          </a:prstGeom>
          <a:noFill/>
        </p:spPr>
        <p:txBody>
          <a:bodyPr wrap="square" lIns="0" rIns="0">
            <a:spAutoFit/>
          </a:bodyPr>
          <a:lstStyle/>
          <a:p>
            <a:pPr algn="l"/>
            <a:r>
              <a:rPr sz="1600" b="0">
                <a:solidFill>
                  <a:srgbClr val="141A23"/>
                </a:solidFill>
                <a:latin typeface="Calibri"/>
              </a:rPr>
              <a:t>This guide has three parts:</a:t>
            </a:r>
          </a:p>
          <a:p>
            <a:pPr algn="l"/>
            <a:r>
              <a:rPr sz="1600" b="0">
                <a:solidFill>
                  <a:srgbClr val="141A23"/>
                </a:solidFill>
                <a:latin typeface="Calibri"/>
              </a:rPr>
              <a:t/>
            </a:r>
          </a:p>
          <a:p>
            <a:pPr algn="l"/>
            <a:r>
              <a:rPr sz="1600" b="0">
                <a:solidFill>
                  <a:srgbClr val="141A23"/>
                </a:solidFill>
                <a:latin typeface="Calibri"/>
              </a:rPr>
              <a:t>1.  Each role gets its own chapter — find your role and read it end to end.</a:t>
            </a:r>
          </a:p>
          <a:p>
            <a:pPr algn="l"/>
            <a:r>
              <a:rPr sz="1600" b="0">
                <a:solidFill>
                  <a:srgbClr val="141A23"/>
                </a:solidFill>
                <a:latin typeface="Calibri"/>
              </a:rPr>
              <a:t>2.  The 'End-to-end sale' chapter shows one real sale going through every role on the live system.</a:t>
            </a:r>
          </a:p>
          <a:p>
            <a:pPr algn="l"/>
            <a:r>
              <a:rPr sz="1600" b="0">
                <a:solidFill>
                  <a:srgbClr val="141A23"/>
                </a:solidFill>
                <a:latin typeface="Calibri"/>
              </a:rPr>
              <a:t>3.  The 'Mobile companion app' chapter shows Umoja Pro on Android.</a:t>
            </a:r>
          </a:p>
        </p:txBody>
      </p:sp>
      <p:sp>
        <p:nvSpPr>
          <p:cNvPr id="4" name="TextBox 3"/>
          <p:cNvSpPr txBox="1"/>
          <p:nvPr/>
        </p:nvSpPr>
        <p:spPr>
          <a:xfrm>
            <a:off x="548640" y="4114800"/>
            <a:ext cx="10972800" cy="457200"/>
          </a:xfrm>
          <a:prstGeom prst="rect">
            <a:avLst/>
          </a:prstGeom>
          <a:noFill/>
        </p:spPr>
        <p:txBody>
          <a:bodyPr wrap="square" lIns="0" rIns="0">
            <a:spAutoFit/>
          </a:bodyPr>
          <a:lstStyle/>
          <a:p>
            <a:pPr algn="l"/>
            <a:r>
              <a:rPr sz="2000" b="1">
                <a:solidFill>
                  <a:srgbClr val="4055E6"/>
                </a:solidFill>
                <a:latin typeface="Calibri"/>
              </a:rPr>
              <a:t>Roles covered</a:t>
            </a:r>
          </a:p>
        </p:txBody>
      </p:sp>
      <p:sp>
        <p:nvSpPr>
          <p:cNvPr id="5" name="TextBox 4"/>
          <p:cNvSpPr txBox="1"/>
          <p:nvPr/>
        </p:nvSpPr>
        <p:spPr>
          <a:xfrm>
            <a:off x="548640" y="4663440"/>
            <a:ext cx="10972800" cy="1828800"/>
          </a:xfrm>
          <a:prstGeom prst="rect">
            <a:avLst/>
          </a:prstGeom>
          <a:noFill/>
        </p:spPr>
        <p:txBody>
          <a:bodyPr wrap="square" lIns="0" rIns="0">
            <a:spAutoFit/>
          </a:bodyPr>
          <a:lstStyle/>
          <a:p>
            <a:pPr algn="l"/>
            <a:r>
              <a:rPr sz="1300" b="0">
                <a:solidFill>
                  <a:srgbClr val="141A23"/>
                </a:solidFill>
                <a:latin typeface="Calibri"/>
              </a:rPr>
              <a:t>  •  System Administrator  —  The owner or IT lead who sets the system up and keeps it healthy.</a:t>
            </a:r>
          </a:p>
          <a:p>
            <a:pPr algn="l"/>
            <a:r>
              <a:rPr sz="1300" b="0">
                <a:solidFill>
                  <a:srgbClr val="141A23"/>
                </a:solidFill>
                <a:latin typeface="Calibri"/>
              </a:rPr>
              <a:t>  •  Store Manager  —  The supervisor on the floor who approves orders and runs dispatch.</a:t>
            </a:r>
          </a:p>
          <a:p>
            <a:pPr algn="l"/>
            <a:r>
              <a:rPr sz="1300" b="0">
                <a:solidFill>
                  <a:srgbClr val="141A23"/>
                </a:solidFill>
                <a:latin typeface="Calibri"/>
              </a:rPr>
              <a:t>  •  Sales Representative  —  The cashier or salesperson at the counter or on the phone.</a:t>
            </a:r>
          </a:p>
          <a:p>
            <a:pPr algn="l"/>
            <a:r>
              <a:rPr sz="1300" b="0">
                <a:solidFill>
                  <a:srgbClr val="141A23"/>
                </a:solidFill>
                <a:latin typeface="Calibri"/>
              </a:rPr>
              <a:t>  •  Procurement Officer (Afisa Ugavi)  —  The person responsible for ordering goods from suppliers.</a:t>
            </a:r>
          </a:p>
          <a:p>
            <a:pPr algn="l"/>
            <a:r>
              <a:rPr sz="1300" b="0">
                <a:solidFill>
                  <a:srgbClr val="141A23"/>
                </a:solidFill>
                <a:latin typeface="Calibri"/>
              </a:rPr>
              <a:t>  •  Stock Controller  —  The receiving clerk who books incoming goods into the system.</a:t>
            </a:r>
          </a:p>
          <a:p>
            <a:pPr algn="l"/>
            <a:r>
              <a:rPr sz="1300" b="0">
                <a:solidFill>
                  <a:srgbClr val="141A23"/>
                </a:solidFill>
                <a:latin typeface="Calibri"/>
              </a:rPr>
              <a:t>  •  Store Keeper  —  The warehouse staff who picks goods for dispatch.</a:t>
            </a:r>
          </a:p>
          <a:p>
            <a:pPr algn="l"/>
            <a:r>
              <a:rPr sz="1300" b="0">
                <a:solidFill>
                  <a:srgbClr val="141A23"/>
                </a:solidFill>
                <a:latin typeface="Calibri"/>
              </a:rPr>
              <a:t>  •  Accountant  —  The bookkeeper who tracks money in and money out.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0"/>
          </a:xfrm>
          <a:prstGeom prst="rect">
            <a:avLst/>
          </a:prstGeom>
          <a:solidFill>
            <a:srgbClr val="16A3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457200"/>
          </a:xfrm>
          <a:prstGeom prst="rect">
            <a:avLst/>
          </a:prstGeom>
          <a:noFill/>
        </p:spPr>
        <p:txBody>
          <a:bodyPr wrap="square" lIns="0" rIns="0">
            <a:spAutoFit/>
          </a:bodyPr>
          <a:lstStyle/>
          <a:p>
            <a:pPr algn="l"/>
            <a:r>
              <a:rPr sz="1200" b="1">
                <a:solidFill>
                  <a:srgbClr val="DDE3FF"/>
                </a:solidFill>
                <a:latin typeface="Calibri"/>
              </a:rPr>
              <a:t>END-TO-END WALKTHROUGH</a:t>
            </a:r>
          </a:p>
        </p:txBody>
      </p:sp>
      <p:sp>
        <p:nvSpPr>
          <p:cNvPr id="4" name="TextBox 3"/>
          <p:cNvSpPr txBox="1"/>
          <p:nvPr/>
        </p:nvSpPr>
        <p:spPr>
          <a:xfrm>
            <a:off x="548640" y="640080"/>
            <a:ext cx="10972800" cy="822960"/>
          </a:xfrm>
          <a:prstGeom prst="rect">
            <a:avLst/>
          </a:prstGeom>
          <a:noFill/>
        </p:spPr>
        <p:txBody>
          <a:bodyPr wrap="square" lIns="0" rIns="0">
            <a:spAutoFit/>
          </a:bodyPr>
          <a:lstStyle/>
          <a:p>
            <a:pPr algn="l"/>
            <a:r>
              <a:rPr sz="3200" b="1">
                <a:solidFill>
                  <a:srgbClr val="FFFFFF"/>
                </a:solidFill>
                <a:latin typeface="Calibri"/>
              </a:rPr>
              <a:t>End-to-end sale: from POS to delivery</a:t>
            </a:r>
          </a:p>
        </p:txBody>
      </p:sp>
      <p:sp>
        <p:nvSpPr>
          <p:cNvPr id="5" name="TextBox 4"/>
          <p:cNvSpPr txBox="1"/>
          <p:nvPr/>
        </p:nvSpPr>
        <p:spPr>
          <a:xfrm>
            <a:off x="548640" y="1737360"/>
            <a:ext cx="10972800" cy="457200"/>
          </a:xfrm>
          <a:prstGeom prst="rect">
            <a:avLst/>
          </a:prstGeom>
          <a:noFill/>
        </p:spPr>
        <p:txBody>
          <a:bodyPr wrap="square" lIns="0" rIns="0">
            <a:spAutoFit/>
          </a:bodyPr>
          <a:lstStyle/>
          <a:p>
            <a:pPr algn="l"/>
            <a:r>
              <a:rPr sz="1300" b="1">
                <a:solidFill>
                  <a:srgbClr val="6B7686"/>
                </a:solidFill>
                <a:latin typeface="Calibri"/>
              </a:rPr>
              <a:t>Who does this</a:t>
            </a:r>
          </a:p>
        </p:txBody>
      </p:sp>
      <p:sp>
        <p:nvSpPr>
          <p:cNvPr id="6" name="TextBox 5"/>
          <p:cNvSpPr txBox="1"/>
          <p:nvPr/>
        </p:nvSpPr>
        <p:spPr>
          <a:xfrm>
            <a:off x="548640" y="2148840"/>
            <a:ext cx="10972800" cy="914400"/>
          </a:xfrm>
          <a:prstGeom prst="rect">
            <a:avLst/>
          </a:prstGeom>
          <a:noFill/>
        </p:spPr>
        <p:txBody>
          <a:bodyPr wrap="square" lIns="0" rIns="0">
            <a:spAutoFit/>
          </a:bodyPr>
          <a:lstStyle/>
          <a:p>
            <a:pPr algn="l"/>
            <a:r>
              <a:rPr sz="1800" b="0">
                <a:solidFill>
                  <a:srgbClr val="141A23"/>
                </a:solidFill>
                <a:latin typeface="Calibri"/>
              </a:rPr>
              <a:t>A real sale captured live on the system, showing each role's view at every transition.</a:t>
            </a:r>
          </a:p>
        </p:txBody>
      </p:sp>
      <p:sp>
        <p:nvSpPr>
          <p:cNvPr id="7" name="TextBox 6"/>
          <p:cNvSpPr txBox="1"/>
          <p:nvPr/>
        </p:nvSpPr>
        <p:spPr>
          <a:xfrm>
            <a:off x="548640" y="3200400"/>
            <a:ext cx="10972800" cy="457200"/>
          </a:xfrm>
          <a:prstGeom prst="rect">
            <a:avLst/>
          </a:prstGeom>
          <a:noFill/>
        </p:spPr>
        <p:txBody>
          <a:bodyPr wrap="square" lIns="0" rIns="0">
            <a:spAutoFit/>
          </a:bodyPr>
          <a:lstStyle/>
          <a:p>
            <a:pPr algn="l"/>
            <a:r>
              <a:rPr sz="1300" b="1">
                <a:solidFill>
                  <a:srgbClr val="6B7686"/>
                </a:solidFill>
                <a:latin typeface="Calibri"/>
              </a:rPr>
              <a:t>Your day, in one paragraph</a:t>
            </a:r>
          </a:p>
        </p:txBody>
      </p:sp>
      <p:sp>
        <p:nvSpPr>
          <p:cNvPr id="8" name="TextBox 7"/>
          <p:cNvSpPr txBox="1"/>
          <p:nvPr/>
        </p:nvSpPr>
        <p:spPr>
          <a:xfrm>
            <a:off x="548640" y="3611880"/>
            <a:ext cx="10972800" cy="2286000"/>
          </a:xfrm>
          <a:prstGeom prst="rect">
            <a:avLst/>
          </a:prstGeom>
          <a:noFill/>
        </p:spPr>
        <p:txBody>
          <a:bodyPr wrap="square" lIns="0" rIns="0">
            <a:spAutoFit/>
          </a:bodyPr>
          <a:lstStyle/>
          <a:p>
            <a:pPr algn="l"/>
            <a:r>
              <a:rPr sz="1700" b="0">
                <a:solidFill>
                  <a:srgbClr val="141A23"/>
                </a:solidFill>
                <a:latin typeface="Calibri"/>
              </a:rPr>
              <a:t>Follow one Walk-in Customer's order from the moment the Sales Rep punches it in until the truck rolls out. The screenshots below are real captures from each user's logged-in session on the live site.</a:t>
            </a:r>
          </a:p>
        </p:txBody>
      </p:sp>
      <p:sp>
        <p:nvSpPr>
          <p:cNvPr id="9" name="TextBox 8"/>
          <p:cNvSpPr txBox="1"/>
          <p:nvPr/>
        </p:nvSpPr>
        <p:spPr>
          <a:xfrm>
            <a:off x="548640" y="6126480"/>
            <a:ext cx="10972800" cy="457200"/>
          </a:xfrm>
          <a:prstGeom prst="rect">
            <a:avLst/>
          </a:prstGeom>
          <a:noFill/>
        </p:spPr>
        <p:txBody>
          <a:bodyPr wrap="square" lIns="0" rIns="0">
            <a:spAutoFit/>
          </a:bodyPr>
          <a:lstStyle/>
          <a:p>
            <a:pPr algn="l"/>
            <a:r>
              <a:rPr sz="1200" b="0">
                <a:solidFill>
                  <a:srgbClr val="6B7686"/>
                </a:solidFill>
                <a:latin typeface="Calibri"/>
              </a:rPr>
              <a:t>10 steps follow. Tips at the end of the chapter.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END-TO-END SALE: FROM POS TO DELIVERY   ·   STEP 1 OF 10</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1. Sales Rep — open POS</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The Sales Rep logs in and opens Sales &gt; POS. They search products, set quantity and price, pick the customer, take payment. When they Submit, the sale lands in 'Pending approval' state.</a:t>
            </a:r>
          </a:p>
        </p:txBody>
      </p:sp>
      <p:pic>
        <p:nvPicPr>
          <p:cNvPr id="5" name="Picture 4" descr="wf_01_salesrep_pos.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END-TO-END SALE: FROM POS TO DELIVERY   ·   STEP 2 OF 10</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2. Sales Rep — sale is pending</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The new sale shows up in the rep's Sales list with status PENDING. Stock has NOT moved yet. The rep can take the next customer right away — approval is the manager's job.</a:t>
            </a:r>
          </a:p>
        </p:txBody>
      </p:sp>
      <p:pic>
        <p:nvPicPr>
          <p:cNvPr id="5" name="Picture 4" descr="wf_02_salesrep_pending.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END-TO-END SALE: FROM POS TO DELIVERY   ·   STEP 3 OF 10</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3. Store Manager — sees pending order</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The Store Manager opens Sales &gt; Order management. The new order is listed with Approve / Decline buttons. They check it's a real customer and the price is right.</a:t>
            </a:r>
          </a:p>
        </p:txBody>
      </p:sp>
      <p:pic>
        <p:nvPicPr>
          <p:cNvPr id="5" name="Picture 4" descr="wf_03_smgr_orders_pending.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END-TO-END SALE: FROM POS TO DELIVERY   ·   STEP 4 OF 10</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4. Store Manager — approves</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After clicking Approve, the order disappears from the Pending list. Stock is still untouched at this point — Approve only means the order is cleared for dispatch.</a:t>
            </a:r>
          </a:p>
        </p:txBody>
      </p:sp>
      <p:pic>
        <p:nvPicPr>
          <p:cNvPr id="5" name="Picture 4" descr="wf_03_smgr_orders_pending.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END-TO-END SALE: FROM POS TO DELIVERY   ·   STEP 5 OF 10</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5. Store Manager — opens Dispatch Board</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The approved order is now on Sales &gt; Dispatch. The manager picks the Store Keeper who will pull the goods, picks a Vehicle (or types hired lorry info), and clicks Dispatch.</a:t>
            </a:r>
          </a:p>
        </p:txBody>
      </p:sp>
      <p:pic>
        <p:nvPicPr>
          <p:cNvPr id="5" name="Picture 4" descr="wf_05_smgr_dispatch_before.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END-TO-END SALE: FROM POS TO DELIVERY   ·   STEP 6 OF 10</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6. Store Manager — order dispatched</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Now stock IS deducted. The order moves to DISPATCHED status, the vehicle is marked In Transit, and PDF invoice + delivery note are generated. The driver leaves with the goods.</a:t>
            </a:r>
          </a:p>
        </p:txBody>
      </p:sp>
      <p:pic>
        <p:nvPicPr>
          <p:cNvPr id="5" name="Picture 4" descr="wf_06_smgr_dispatch_after.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END-TO-END SALE: FROM POS TO DELIVERY   ·   STEP 7 OF 10</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7. Store Manager — sales list</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Cross-checking the sale list now shows the order with Dispatched status, the picker assigned, and the lorry info.</a:t>
            </a:r>
          </a:p>
        </p:txBody>
      </p:sp>
      <p:pic>
        <p:nvPicPr>
          <p:cNvPr id="5" name="Picture 4" descr="wf_02_salesrep_pending.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END-TO-END SALE: FROM POS TO DELIVERY   ·   STEP 8 OF 10</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8. Store Keeper — picks and confirms</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The Store Keeper sees the dispatched sale in their feed — they pull the goods physically and load them on the truck shown.</a:t>
            </a:r>
          </a:p>
        </p:txBody>
      </p:sp>
      <p:pic>
        <p:nvPicPr>
          <p:cNvPr id="5" name="Picture 4" descr="wf_02_salesrep_pending.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END-TO-END SALE: FROM POS TO DELIVERY   ·   STEP 9 OF 10</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9. Accountant — record the expense behind the sale</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Once the truck has rolled, the Accountant logs the fuel / freight expense via Finance &gt; Expenses &gt; Add expense. Receipt photo attached.</a:t>
            </a:r>
          </a:p>
        </p:txBody>
      </p:sp>
      <p:pic>
        <p:nvPicPr>
          <p:cNvPr id="5" name="Picture 4" descr="wf_09_accountant_expense_form.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END-TO-END SALE: FROM POS TO DELIVERY   ·   STEP 10 OF 10</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10. Accountant — expenses list</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The new expense shows up in the running list, categorized, with the receipt image one click away.</a:t>
            </a:r>
          </a:p>
        </p:txBody>
      </p:sp>
      <p:pic>
        <p:nvPicPr>
          <p:cNvPr id="5" name="Picture 4" descr="wf_10_accountant_expenses_list.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END-TO-END SALE: FROM POS TO DELIVERY   ·   TIPS &amp; GOTCHAS</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Things that are easy to miss</a:t>
            </a:r>
          </a:p>
        </p:txBody>
      </p:sp>
      <p:sp>
        <p:nvSpPr>
          <p:cNvPr id="4" name="TextBox 3"/>
          <p:cNvSpPr txBox="1"/>
          <p:nvPr/>
        </p:nvSpPr>
        <p:spPr>
          <a:xfrm>
            <a:off x="548640" y="1645920"/>
            <a:ext cx="10972800" cy="4572000"/>
          </a:xfrm>
          <a:prstGeom prst="rect">
            <a:avLst/>
          </a:prstGeom>
          <a:noFill/>
        </p:spPr>
        <p:txBody>
          <a:bodyPr wrap="square" lIns="0" rIns="0">
            <a:spAutoFit/>
          </a:bodyPr>
          <a:lstStyle/>
          <a:p>
            <a:pPr algn="l"/>
            <a:r>
              <a:rPr sz="1500" b="0">
                <a:solidFill>
                  <a:srgbClr val="141A23"/>
                </a:solidFill>
                <a:latin typeface="Calibri"/>
              </a:rPr>
              <a:t>⚑   Stock moves at step 6 (Dispatch), not at step 4 (Approve).</a:t>
            </a:r>
          </a:p>
          <a:p>
            <a:pPr algn="l"/>
            <a:r>
              <a:rPr sz="1500" b="0">
                <a:solidFill>
                  <a:srgbClr val="141A23"/>
                </a:solidFill>
                <a:latin typeface="Calibri"/>
              </a:rPr>
              <a:t/>
            </a:r>
          </a:p>
          <a:p>
            <a:pPr algn="l"/>
            <a:r>
              <a:rPr sz="1500" b="0">
                <a:solidFill>
                  <a:srgbClr val="141A23"/>
                </a:solidFill>
                <a:latin typeface="Calibri"/>
              </a:rPr>
              <a:t>⚑   Commission is frozen at step 1 (sale creation) based on the product's category — changing the category rate later doesn't affect historical sales.</a:t>
            </a:r>
          </a:p>
          <a:p>
            <a:pPr algn="l"/>
            <a:r>
              <a:rPr sz="1500" b="0">
                <a:solidFill>
                  <a:srgbClr val="141A23"/>
                </a:solidFill>
                <a:latin typeface="Calibri"/>
              </a:rPr>
              <a:t/>
            </a:r>
          </a:p>
          <a:p>
            <a:pPr algn="l"/>
            <a:r>
              <a:rPr sz="1500" b="0">
                <a:solidFill>
                  <a:srgbClr val="141A23"/>
                </a:solidFill>
                <a:latin typeface="Calibri"/>
              </a:rPr>
              <a:t>⚑   If the sale is later deleted, stock is restored automatically.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0"/>
          </a:xfrm>
          <a:prstGeom prst="rect">
            <a:avLst/>
          </a:prstGeom>
          <a:solidFill>
            <a:srgbClr val="405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457200"/>
          </a:xfrm>
          <a:prstGeom prst="rect">
            <a:avLst/>
          </a:prstGeom>
          <a:noFill/>
        </p:spPr>
        <p:txBody>
          <a:bodyPr wrap="square" lIns="0" rIns="0">
            <a:spAutoFit/>
          </a:bodyPr>
          <a:lstStyle/>
          <a:p>
            <a:pPr algn="l"/>
            <a:r>
              <a:rPr sz="1200" b="1">
                <a:solidFill>
                  <a:srgbClr val="DDE3FF"/>
                </a:solidFill>
                <a:latin typeface="Calibri"/>
              </a:rPr>
              <a:t>ROLE</a:t>
            </a:r>
          </a:p>
        </p:txBody>
      </p:sp>
      <p:sp>
        <p:nvSpPr>
          <p:cNvPr id="4" name="TextBox 3"/>
          <p:cNvSpPr txBox="1"/>
          <p:nvPr/>
        </p:nvSpPr>
        <p:spPr>
          <a:xfrm>
            <a:off x="548640" y="640080"/>
            <a:ext cx="10972800" cy="822960"/>
          </a:xfrm>
          <a:prstGeom prst="rect">
            <a:avLst/>
          </a:prstGeom>
          <a:noFill/>
        </p:spPr>
        <p:txBody>
          <a:bodyPr wrap="square" lIns="0" rIns="0">
            <a:spAutoFit/>
          </a:bodyPr>
          <a:lstStyle/>
          <a:p>
            <a:pPr algn="l"/>
            <a:r>
              <a:rPr sz="3200" b="1">
                <a:solidFill>
                  <a:srgbClr val="FFFFFF"/>
                </a:solidFill>
                <a:latin typeface="Calibri"/>
              </a:rPr>
              <a:t>System Administrator</a:t>
            </a:r>
          </a:p>
        </p:txBody>
      </p:sp>
      <p:sp>
        <p:nvSpPr>
          <p:cNvPr id="5" name="TextBox 4"/>
          <p:cNvSpPr txBox="1"/>
          <p:nvPr/>
        </p:nvSpPr>
        <p:spPr>
          <a:xfrm>
            <a:off x="548640" y="1737360"/>
            <a:ext cx="10972800" cy="457200"/>
          </a:xfrm>
          <a:prstGeom prst="rect">
            <a:avLst/>
          </a:prstGeom>
          <a:noFill/>
        </p:spPr>
        <p:txBody>
          <a:bodyPr wrap="square" lIns="0" rIns="0">
            <a:spAutoFit/>
          </a:bodyPr>
          <a:lstStyle/>
          <a:p>
            <a:pPr algn="l"/>
            <a:r>
              <a:rPr sz="1300" b="1">
                <a:solidFill>
                  <a:srgbClr val="6B7686"/>
                </a:solidFill>
                <a:latin typeface="Calibri"/>
              </a:rPr>
              <a:t>Who does this</a:t>
            </a:r>
          </a:p>
        </p:txBody>
      </p:sp>
      <p:sp>
        <p:nvSpPr>
          <p:cNvPr id="6" name="TextBox 5"/>
          <p:cNvSpPr txBox="1"/>
          <p:nvPr/>
        </p:nvSpPr>
        <p:spPr>
          <a:xfrm>
            <a:off x="548640" y="2148840"/>
            <a:ext cx="10972800" cy="914400"/>
          </a:xfrm>
          <a:prstGeom prst="rect">
            <a:avLst/>
          </a:prstGeom>
          <a:noFill/>
        </p:spPr>
        <p:txBody>
          <a:bodyPr wrap="square" lIns="0" rIns="0">
            <a:spAutoFit/>
          </a:bodyPr>
          <a:lstStyle/>
          <a:p>
            <a:pPr algn="l"/>
            <a:r>
              <a:rPr sz="1800" b="0">
                <a:solidFill>
                  <a:srgbClr val="141A23"/>
                </a:solidFill>
                <a:latin typeface="Calibri"/>
              </a:rPr>
              <a:t>The owner or IT lead who sets the system up and keeps it healthy.</a:t>
            </a:r>
          </a:p>
        </p:txBody>
      </p:sp>
      <p:sp>
        <p:nvSpPr>
          <p:cNvPr id="7" name="TextBox 6"/>
          <p:cNvSpPr txBox="1"/>
          <p:nvPr/>
        </p:nvSpPr>
        <p:spPr>
          <a:xfrm>
            <a:off x="548640" y="3200400"/>
            <a:ext cx="10972800" cy="457200"/>
          </a:xfrm>
          <a:prstGeom prst="rect">
            <a:avLst/>
          </a:prstGeom>
          <a:noFill/>
        </p:spPr>
        <p:txBody>
          <a:bodyPr wrap="square" lIns="0" rIns="0">
            <a:spAutoFit/>
          </a:bodyPr>
          <a:lstStyle/>
          <a:p>
            <a:pPr algn="l"/>
            <a:r>
              <a:rPr sz="1300" b="1">
                <a:solidFill>
                  <a:srgbClr val="6B7686"/>
                </a:solidFill>
                <a:latin typeface="Calibri"/>
              </a:rPr>
              <a:t>Your day, in one paragraph</a:t>
            </a:r>
          </a:p>
        </p:txBody>
      </p:sp>
      <p:sp>
        <p:nvSpPr>
          <p:cNvPr id="8" name="TextBox 7"/>
          <p:cNvSpPr txBox="1"/>
          <p:nvPr/>
        </p:nvSpPr>
        <p:spPr>
          <a:xfrm>
            <a:off x="548640" y="3611880"/>
            <a:ext cx="10972800" cy="2286000"/>
          </a:xfrm>
          <a:prstGeom prst="rect">
            <a:avLst/>
          </a:prstGeom>
          <a:noFill/>
        </p:spPr>
        <p:txBody>
          <a:bodyPr wrap="square" lIns="0" rIns="0">
            <a:spAutoFit/>
          </a:bodyPr>
          <a:lstStyle/>
          <a:p>
            <a:pPr algn="l"/>
            <a:r>
              <a:rPr sz="1700" b="0">
                <a:solidFill>
                  <a:srgbClr val="141A23"/>
                </a:solidFill>
                <a:latin typeface="Calibri"/>
              </a:rPr>
              <a:t>You configure the business once (branches, categories, users, roles) and then mostly use the dashboard to spot problems. You can do everything any other role can do.</a:t>
            </a:r>
          </a:p>
        </p:txBody>
      </p:sp>
      <p:sp>
        <p:nvSpPr>
          <p:cNvPr id="9" name="TextBox 8"/>
          <p:cNvSpPr txBox="1"/>
          <p:nvPr/>
        </p:nvSpPr>
        <p:spPr>
          <a:xfrm>
            <a:off x="548640" y="6126480"/>
            <a:ext cx="10972800" cy="457200"/>
          </a:xfrm>
          <a:prstGeom prst="rect">
            <a:avLst/>
          </a:prstGeom>
          <a:noFill/>
        </p:spPr>
        <p:txBody>
          <a:bodyPr wrap="square" lIns="0" rIns="0">
            <a:spAutoFit/>
          </a:bodyPr>
          <a:lstStyle/>
          <a:p>
            <a:pPr algn="l"/>
            <a:r>
              <a:rPr sz="1200" b="0">
                <a:solidFill>
                  <a:srgbClr val="6B7686"/>
                </a:solidFill>
                <a:latin typeface="Calibri"/>
              </a:rPr>
              <a:t>6 steps follow. Tips at the end of the chapter.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SYSTEM ADMINISTRATOR   ·   STEP 1 OF 6</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Sign in</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Open https://umoja.ehub.co.tz, type your username and password, click Sign in.</a:t>
            </a:r>
          </a:p>
        </p:txBody>
      </p:sp>
      <p:pic>
        <p:nvPicPr>
          <p:cNvPr id="5" name="Picture 4" descr="01_login.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SYSTEM ADMINISTRATOR   ·   STEP 2 OF 6</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Admin dashboard</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After login you land on the Dashboard. The cards at top tell you what needs attention right now: orders ready to dispatch, low-stock items, pending approvals, today's revenue.</a:t>
            </a:r>
          </a:p>
        </p:txBody>
      </p:sp>
      <p:pic>
        <p:nvPicPr>
          <p:cNvPr id="5" name="Picture 4" descr="role_admin_dashboard.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SYSTEM ADMINISTRATOR   ·   STEP 3 OF 6</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Create branches</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Inventory &gt; Branches &gt; Add branch. Every product stock and every sale is tied to a branch — set yours up before adding any other data.</a:t>
            </a:r>
          </a:p>
        </p:txBody>
      </p:sp>
      <p:pic>
        <p:nvPicPr>
          <p:cNvPr id="5" name="Picture 4" descr="03_branches.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SYSTEM ADMINISTRATOR   ·   STEP 4 OF 6</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Create categories</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Inventory &gt; Categories. Each category has a commission % that is applied to every sale of products in that category. Historical sales keep their old rate even if you change it later.</a:t>
            </a:r>
          </a:p>
        </p:txBody>
      </p:sp>
      <p:pic>
        <p:nvPicPr>
          <p:cNvPr id="5" name="Picture 4" descr="04_categories.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SYSTEM ADMINISTRATOR   ·   STEP 5 OF 6</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Manage users</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Users. Each user has a role that decides which menu items they see and which actions they can take.</a:t>
            </a:r>
          </a:p>
        </p:txBody>
      </p:sp>
      <p:pic>
        <p:nvPicPr>
          <p:cNvPr id="5" name="Picture 4" descr="role_admin_users_list.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SYSTEM ADMINISTRATOR   ·   STEP 6 OF 6</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Company settings</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Settings. Company name, default currency (TZS), and default tax rate. These show up on receipts and invoices.</a:t>
            </a:r>
          </a:p>
        </p:txBody>
      </p:sp>
      <p:pic>
        <p:nvPicPr>
          <p:cNvPr id="5" name="Picture 4" descr="role_admin_settings.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SYSTEM ADMINISTRATOR   ·   TIPS &amp; GOTCHAS</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Things that are easy to miss</a:t>
            </a:r>
          </a:p>
        </p:txBody>
      </p:sp>
      <p:sp>
        <p:nvSpPr>
          <p:cNvPr id="4" name="TextBox 3"/>
          <p:cNvSpPr txBox="1"/>
          <p:nvPr/>
        </p:nvSpPr>
        <p:spPr>
          <a:xfrm>
            <a:off x="548640" y="1645920"/>
            <a:ext cx="10972800" cy="4572000"/>
          </a:xfrm>
          <a:prstGeom prst="rect">
            <a:avLst/>
          </a:prstGeom>
          <a:noFill/>
        </p:spPr>
        <p:txBody>
          <a:bodyPr wrap="square" lIns="0" rIns="0">
            <a:spAutoFit/>
          </a:bodyPr>
          <a:lstStyle/>
          <a:p>
            <a:pPr algn="l"/>
            <a:r>
              <a:rPr sz="1500" b="0">
                <a:solidFill>
                  <a:srgbClr val="141A23"/>
                </a:solidFill>
                <a:latin typeface="Calibri"/>
              </a:rPr>
              <a:t>⚑   Run `python manage.py create_roles` once after install to seed all role groups.</a:t>
            </a:r>
          </a:p>
          <a:p>
            <a:pPr algn="l"/>
            <a:r>
              <a:rPr sz="1500" b="0">
                <a:solidFill>
                  <a:srgbClr val="141A23"/>
                </a:solidFill>
                <a:latin typeface="Calibri"/>
              </a:rPr>
              <a:t/>
            </a:r>
          </a:p>
          <a:p>
            <a:pPr algn="l"/>
            <a:r>
              <a:rPr sz="1500" b="0">
                <a:solidFill>
                  <a:srgbClr val="141A23"/>
                </a:solidFill>
                <a:latin typeface="Calibri"/>
              </a:rPr>
              <a:t>⚑   Keep the SECRET_KEY out of git — set it in /var/www/app/.env on the server.</a:t>
            </a:r>
          </a:p>
          <a:p>
            <a:pPr algn="l"/>
            <a:r>
              <a:rPr sz="1500" b="0">
                <a:solidFill>
                  <a:srgbClr val="141A23"/>
                </a:solidFill>
                <a:latin typeface="Calibri"/>
              </a:rPr>
              <a:t/>
            </a:r>
          </a:p>
          <a:p>
            <a:pPr algn="l"/>
            <a:r>
              <a:rPr sz="1500" b="0">
                <a:solidFill>
                  <a:srgbClr val="141A23"/>
                </a:solidFill>
                <a:latin typeface="Calibri"/>
              </a:rPr>
              <a:t>⚑   Reports menu shows aging, profitability by category, and commissions per sales rep.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0"/>
          </a:xfrm>
          <a:prstGeom prst="rect">
            <a:avLst/>
          </a:prstGeom>
          <a:solidFill>
            <a:srgbClr val="405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457200"/>
          </a:xfrm>
          <a:prstGeom prst="rect">
            <a:avLst/>
          </a:prstGeom>
          <a:noFill/>
        </p:spPr>
        <p:txBody>
          <a:bodyPr wrap="square" lIns="0" rIns="0">
            <a:spAutoFit/>
          </a:bodyPr>
          <a:lstStyle/>
          <a:p>
            <a:pPr algn="l"/>
            <a:r>
              <a:rPr sz="1200" b="1">
                <a:solidFill>
                  <a:srgbClr val="DDE3FF"/>
                </a:solidFill>
                <a:latin typeface="Calibri"/>
              </a:rPr>
              <a:t>ROLE</a:t>
            </a:r>
          </a:p>
        </p:txBody>
      </p:sp>
      <p:sp>
        <p:nvSpPr>
          <p:cNvPr id="4" name="TextBox 3"/>
          <p:cNvSpPr txBox="1"/>
          <p:nvPr/>
        </p:nvSpPr>
        <p:spPr>
          <a:xfrm>
            <a:off x="548640" y="640080"/>
            <a:ext cx="10972800" cy="822960"/>
          </a:xfrm>
          <a:prstGeom prst="rect">
            <a:avLst/>
          </a:prstGeom>
          <a:noFill/>
        </p:spPr>
        <p:txBody>
          <a:bodyPr wrap="square" lIns="0" rIns="0">
            <a:spAutoFit/>
          </a:bodyPr>
          <a:lstStyle/>
          <a:p>
            <a:pPr algn="l"/>
            <a:r>
              <a:rPr sz="3200" b="1">
                <a:solidFill>
                  <a:srgbClr val="FFFFFF"/>
                </a:solidFill>
                <a:latin typeface="Calibri"/>
              </a:rPr>
              <a:t>Store Manager</a:t>
            </a:r>
          </a:p>
        </p:txBody>
      </p:sp>
      <p:sp>
        <p:nvSpPr>
          <p:cNvPr id="5" name="TextBox 4"/>
          <p:cNvSpPr txBox="1"/>
          <p:nvPr/>
        </p:nvSpPr>
        <p:spPr>
          <a:xfrm>
            <a:off x="548640" y="1737360"/>
            <a:ext cx="10972800" cy="457200"/>
          </a:xfrm>
          <a:prstGeom prst="rect">
            <a:avLst/>
          </a:prstGeom>
          <a:noFill/>
        </p:spPr>
        <p:txBody>
          <a:bodyPr wrap="square" lIns="0" rIns="0">
            <a:spAutoFit/>
          </a:bodyPr>
          <a:lstStyle/>
          <a:p>
            <a:pPr algn="l"/>
            <a:r>
              <a:rPr sz="1300" b="1">
                <a:solidFill>
                  <a:srgbClr val="6B7686"/>
                </a:solidFill>
                <a:latin typeface="Calibri"/>
              </a:rPr>
              <a:t>Who does this</a:t>
            </a:r>
          </a:p>
        </p:txBody>
      </p:sp>
      <p:sp>
        <p:nvSpPr>
          <p:cNvPr id="6" name="TextBox 5"/>
          <p:cNvSpPr txBox="1"/>
          <p:nvPr/>
        </p:nvSpPr>
        <p:spPr>
          <a:xfrm>
            <a:off x="548640" y="2148840"/>
            <a:ext cx="10972800" cy="914400"/>
          </a:xfrm>
          <a:prstGeom prst="rect">
            <a:avLst/>
          </a:prstGeom>
          <a:noFill/>
        </p:spPr>
        <p:txBody>
          <a:bodyPr wrap="square" lIns="0" rIns="0">
            <a:spAutoFit/>
          </a:bodyPr>
          <a:lstStyle/>
          <a:p>
            <a:pPr algn="l"/>
            <a:r>
              <a:rPr sz="1800" b="0">
                <a:solidFill>
                  <a:srgbClr val="141A23"/>
                </a:solidFill>
                <a:latin typeface="Calibri"/>
              </a:rPr>
              <a:t>The supervisor on the floor who approves orders and runs dispatch.</a:t>
            </a:r>
          </a:p>
        </p:txBody>
      </p:sp>
      <p:sp>
        <p:nvSpPr>
          <p:cNvPr id="7" name="TextBox 6"/>
          <p:cNvSpPr txBox="1"/>
          <p:nvPr/>
        </p:nvSpPr>
        <p:spPr>
          <a:xfrm>
            <a:off x="548640" y="3200400"/>
            <a:ext cx="10972800" cy="457200"/>
          </a:xfrm>
          <a:prstGeom prst="rect">
            <a:avLst/>
          </a:prstGeom>
          <a:noFill/>
        </p:spPr>
        <p:txBody>
          <a:bodyPr wrap="square" lIns="0" rIns="0">
            <a:spAutoFit/>
          </a:bodyPr>
          <a:lstStyle/>
          <a:p>
            <a:pPr algn="l"/>
            <a:r>
              <a:rPr sz="1300" b="1">
                <a:solidFill>
                  <a:srgbClr val="6B7686"/>
                </a:solidFill>
                <a:latin typeface="Calibri"/>
              </a:rPr>
              <a:t>Your day, in one paragraph</a:t>
            </a:r>
          </a:p>
        </p:txBody>
      </p:sp>
      <p:sp>
        <p:nvSpPr>
          <p:cNvPr id="8" name="TextBox 7"/>
          <p:cNvSpPr txBox="1"/>
          <p:nvPr/>
        </p:nvSpPr>
        <p:spPr>
          <a:xfrm>
            <a:off x="548640" y="3611880"/>
            <a:ext cx="10972800" cy="2286000"/>
          </a:xfrm>
          <a:prstGeom prst="rect">
            <a:avLst/>
          </a:prstGeom>
          <a:noFill/>
        </p:spPr>
        <p:txBody>
          <a:bodyPr wrap="square" lIns="0" rIns="0">
            <a:spAutoFit/>
          </a:bodyPr>
          <a:lstStyle/>
          <a:p>
            <a:pPr algn="l"/>
            <a:r>
              <a:rPr sz="1700" b="0">
                <a:solidFill>
                  <a:srgbClr val="141A23"/>
                </a:solidFill>
                <a:latin typeface="Calibri"/>
              </a:rPr>
              <a:t>Sales reps create orders all day. Your job is to approve or decline them, then dispatch the approved ones — assigning a store keeper to pick the goods and a vehicle to deliver them.</a:t>
            </a:r>
          </a:p>
        </p:txBody>
      </p:sp>
      <p:sp>
        <p:nvSpPr>
          <p:cNvPr id="9" name="TextBox 8"/>
          <p:cNvSpPr txBox="1"/>
          <p:nvPr/>
        </p:nvSpPr>
        <p:spPr>
          <a:xfrm>
            <a:off x="548640" y="6126480"/>
            <a:ext cx="10972800" cy="457200"/>
          </a:xfrm>
          <a:prstGeom prst="rect">
            <a:avLst/>
          </a:prstGeom>
          <a:noFill/>
        </p:spPr>
        <p:txBody>
          <a:bodyPr wrap="square" lIns="0" rIns="0">
            <a:spAutoFit/>
          </a:bodyPr>
          <a:lstStyle/>
          <a:p>
            <a:pPr algn="l"/>
            <a:r>
              <a:rPr sz="1200" b="0">
                <a:solidFill>
                  <a:srgbClr val="6B7686"/>
                </a:solidFill>
                <a:latin typeface="Calibri"/>
              </a:rPr>
              <a:t>5 steps follow. Tips at the end of the chapter.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STORE MANAGER   ·   STEP 1 OF 5</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Your dashboard</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The Store Manager dashboard surfaces a Manager View — ready-to-dispatch count, low-stock count, active fleet.</a:t>
            </a:r>
          </a:p>
        </p:txBody>
      </p:sp>
      <p:pic>
        <p:nvPicPr>
          <p:cNvPr id="5" name="Picture 4" descr="role_store_manager_dashboard.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STORE MANAGER   ·   STEP 2 OF 5</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Order Management — approve or decline</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Sales &gt; Order management. Each pending row has Approve and Decline. Approve only when you've checked the customer is real and the price is right.</a:t>
            </a:r>
          </a:p>
        </p:txBody>
      </p:sp>
      <p:pic>
        <p:nvPicPr>
          <p:cNvPr id="5" name="Picture 4" descr="wf_03_smgr_orders_pending.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STORE MANAGER   ·   STEP 3 OF 5</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Dispatch Board — assign &amp; ship</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Sales &gt; Dispatch board. Pick an approved order, choose a Store Keeper to pick the goods, pick a Vehicle (or type hired transport in Lorry info), click Dispatch.</a:t>
            </a:r>
          </a:p>
        </p:txBody>
      </p:sp>
      <p:pic>
        <p:nvPicPr>
          <p:cNvPr id="5" name="Picture 4" descr="role_store_manager_dispatch_board.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STORE MANAGER   ·   STEP 4 OF 5</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Track delivery vehicles</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Sales &gt; Vehicles. See which vehicles are Active vs busy In transit. Mark a returned vehicle Active again so it can be assigned to the next dispatch.</a:t>
            </a:r>
          </a:p>
        </p:txBody>
      </p:sp>
      <p:pic>
        <p:nvPicPr>
          <p:cNvPr id="5" name="Picture 4" descr="role_store_manager_vehicles.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STORE MANAGER   ·   STEP 5 OF 5</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Move stock between branches</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Inventory &gt; Transfer. Use when one branch is low and another is overstocked. Stock moves out of source, into destination.</a:t>
            </a:r>
          </a:p>
        </p:txBody>
      </p:sp>
      <p:pic>
        <p:nvPicPr>
          <p:cNvPr id="5" name="Picture 4" descr="role_store_manager_stock_transfer.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STORE MANAGER   ·   TIPS &amp; GOTCHAS</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Things that are easy to miss</a:t>
            </a:r>
          </a:p>
        </p:txBody>
      </p:sp>
      <p:sp>
        <p:nvSpPr>
          <p:cNvPr id="4" name="TextBox 3"/>
          <p:cNvSpPr txBox="1"/>
          <p:nvPr/>
        </p:nvSpPr>
        <p:spPr>
          <a:xfrm>
            <a:off x="548640" y="1645920"/>
            <a:ext cx="10972800" cy="4572000"/>
          </a:xfrm>
          <a:prstGeom prst="rect">
            <a:avLst/>
          </a:prstGeom>
          <a:noFill/>
        </p:spPr>
        <p:txBody>
          <a:bodyPr wrap="square" lIns="0" rIns="0">
            <a:spAutoFit/>
          </a:bodyPr>
          <a:lstStyle/>
          <a:p>
            <a:pPr algn="l"/>
            <a:r>
              <a:rPr sz="1500" b="0">
                <a:solidFill>
                  <a:srgbClr val="141A23"/>
                </a:solidFill>
                <a:latin typeface="Calibri"/>
              </a:rPr>
              <a:t>⚑   Stock only moves at Dispatch — Approve does not yet deduct stock.</a:t>
            </a:r>
          </a:p>
          <a:p>
            <a:pPr algn="l"/>
            <a:r>
              <a:rPr sz="1500" b="0">
                <a:solidFill>
                  <a:srgbClr val="141A23"/>
                </a:solidFill>
                <a:latin typeface="Calibri"/>
              </a:rPr>
              <a:t/>
            </a:r>
          </a:p>
          <a:p>
            <a:pPr algn="l"/>
            <a:r>
              <a:rPr sz="1500" b="0">
                <a:solidFill>
                  <a:srgbClr val="141A23"/>
                </a:solidFill>
                <a:latin typeface="Calibri"/>
              </a:rPr>
              <a:t>⚑   If a vehicle stays 'busy' after the driver came back, click Return to free it up.</a:t>
            </a:r>
          </a:p>
          <a:p>
            <a:pPr algn="l"/>
            <a:r>
              <a:rPr sz="1500" b="0">
                <a:solidFill>
                  <a:srgbClr val="141A23"/>
                </a:solidFill>
                <a:latin typeface="Calibri"/>
              </a:rPr>
              <a:t/>
            </a:r>
          </a:p>
          <a:p>
            <a:pPr algn="l"/>
            <a:r>
              <a:rPr sz="1500" b="0">
                <a:solidFill>
                  <a:srgbClr val="141A23"/>
                </a:solidFill>
                <a:latin typeface="Calibri"/>
              </a:rPr>
              <a:t>⚑   Decline within minutes — the customer is usually still on the line.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0"/>
          </a:xfrm>
          <a:prstGeom prst="rect">
            <a:avLst/>
          </a:prstGeom>
          <a:solidFill>
            <a:srgbClr val="405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457200"/>
          </a:xfrm>
          <a:prstGeom prst="rect">
            <a:avLst/>
          </a:prstGeom>
          <a:noFill/>
        </p:spPr>
        <p:txBody>
          <a:bodyPr wrap="square" lIns="0" rIns="0">
            <a:spAutoFit/>
          </a:bodyPr>
          <a:lstStyle/>
          <a:p>
            <a:pPr algn="l"/>
            <a:r>
              <a:rPr sz="1200" b="1">
                <a:solidFill>
                  <a:srgbClr val="DDE3FF"/>
                </a:solidFill>
                <a:latin typeface="Calibri"/>
              </a:rPr>
              <a:t>ROLE</a:t>
            </a:r>
          </a:p>
        </p:txBody>
      </p:sp>
      <p:sp>
        <p:nvSpPr>
          <p:cNvPr id="4" name="TextBox 3"/>
          <p:cNvSpPr txBox="1"/>
          <p:nvPr/>
        </p:nvSpPr>
        <p:spPr>
          <a:xfrm>
            <a:off x="548640" y="640080"/>
            <a:ext cx="10972800" cy="822960"/>
          </a:xfrm>
          <a:prstGeom prst="rect">
            <a:avLst/>
          </a:prstGeom>
          <a:noFill/>
        </p:spPr>
        <p:txBody>
          <a:bodyPr wrap="square" lIns="0" rIns="0">
            <a:spAutoFit/>
          </a:bodyPr>
          <a:lstStyle/>
          <a:p>
            <a:pPr algn="l"/>
            <a:r>
              <a:rPr sz="3200" b="1">
                <a:solidFill>
                  <a:srgbClr val="FFFFFF"/>
                </a:solidFill>
                <a:latin typeface="Calibri"/>
              </a:rPr>
              <a:t>Sales Representative</a:t>
            </a:r>
          </a:p>
        </p:txBody>
      </p:sp>
      <p:sp>
        <p:nvSpPr>
          <p:cNvPr id="5" name="TextBox 4"/>
          <p:cNvSpPr txBox="1"/>
          <p:nvPr/>
        </p:nvSpPr>
        <p:spPr>
          <a:xfrm>
            <a:off x="548640" y="1737360"/>
            <a:ext cx="10972800" cy="457200"/>
          </a:xfrm>
          <a:prstGeom prst="rect">
            <a:avLst/>
          </a:prstGeom>
          <a:noFill/>
        </p:spPr>
        <p:txBody>
          <a:bodyPr wrap="square" lIns="0" rIns="0">
            <a:spAutoFit/>
          </a:bodyPr>
          <a:lstStyle/>
          <a:p>
            <a:pPr algn="l"/>
            <a:r>
              <a:rPr sz="1300" b="1">
                <a:solidFill>
                  <a:srgbClr val="6B7686"/>
                </a:solidFill>
                <a:latin typeface="Calibri"/>
              </a:rPr>
              <a:t>Who does this</a:t>
            </a:r>
          </a:p>
        </p:txBody>
      </p:sp>
      <p:sp>
        <p:nvSpPr>
          <p:cNvPr id="6" name="TextBox 5"/>
          <p:cNvSpPr txBox="1"/>
          <p:nvPr/>
        </p:nvSpPr>
        <p:spPr>
          <a:xfrm>
            <a:off x="548640" y="2148840"/>
            <a:ext cx="10972800" cy="914400"/>
          </a:xfrm>
          <a:prstGeom prst="rect">
            <a:avLst/>
          </a:prstGeom>
          <a:noFill/>
        </p:spPr>
        <p:txBody>
          <a:bodyPr wrap="square" lIns="0" rIns="0">
            <a:spAutoFit/>
          </a:bodyPr>
          <a:lstStyle/>
          <a:p>
            <a:pPr algn="l"/>
            <a:r>
              <a:rPr sz="1800" b="0">
                <a:solidFill>
                  <a:srgbClr val="141A23"/>
                </a:solidFill>
                <a:latin typeface="Calibri"/>
              </a:rPr>
              <a:t>The cashier or salesperson at the counter or on the phone.</a:t>
            </a:r>
          </a:p>
        </p:txBody>
      </p:sp>
      <p:sp>
        <p:nvSpPr>
          <p:cNvPr id="7" name="TextBox 6"/>
          <p:cNvSpPr txBox="1"/>
          <p:nvPr/>
        </p:nvSpPr>
        <p:spPr>
          <a:xfrm>
            <a:off x="548640" y="3200400"/>
            <a:ext cx="10972800" cy="457200"/>
          </a:xfrm>
          <a:prstGeom prst="rect">
            <a:avLst/>
          </a:prstGeom>
          <a:noFill/>
        </p:spPr>
        <p:txBody>
          <a:bodyPr wrap="square" lIns="0" rIns="0">
            <a:spAutoFit/>
          </a:bodyPr>
          <a:lstStyle/>
          <a:p>
            <a:pPr algn="l"/>
            <a:r>
              <a:rPr sz="1300" b="1">
                <a:solidFill>
                  <a:srgbClr val="6B7686"/>
                </a:solidFill>
                <a:latin typeface="Calibri"/>
              </a:rPr>
              <a:t>Your day, in one paragraph</a:t>
            </a:r>
          </a:p>
        </p:txBody>
      </p:sp>
      <p:sp>
        <p:nvSpPr>
          <p:cNvPr id="8" name="TextBox 7"/>
          <p:cNvSpPr txBox="1"/>
          <p:nvPr/>
        </p:nvSpPr>
        <p:spPr>
          <a:xfrm>
            <a:off x="548640" y="3611880"/>
            <a:ext cx="10972800" cy="2286000"/>
          </a:xfrm>
          <a:prstGeom prst="rect">
            <a:avLst/>
          </a:prstGeom>
          <a:noFill/>
        </p:spPr>
        <p:txBody>
          <a:bodyPr wrap="square" lIns="0" rIns="0">
            <a:spAutoFit/>
          </a:bodyPr>
          <a:lstStyle/>
          <a:p>
            <a:pPr algn="l"/>
            <a:r>
              <a:rPr sz="1700" b="0">
                <a:solidFill>
                  <a:srgbClr val="141A23"/>
                </a:solidFill>
                <a:latin typeface="Calibri"/>
              </a:rPr>
              <a:t>You take orders all day. You enter products and customer, record payment (cash, mobile money, bank transfer, or credit), and submit. The order then waits for your manager to approve and dispatch it.</a:t>
            </a:r>
          </a:p>
        </p:txBody>
      </p:sp>
      <p:sp>
        <p:nvSpPr>
          <p:cNvPr id="9" name="TextBox 8"/>
          <p:cNvSpPr txBox="1"/>
          <p:nvPr/>
        </p:nvSpPr>
        <p:spPr>
          <a:xfrm>
            <a:off x="548640" y="6126480"/>
            <a:ext cx="10972800" cy="457200"/>
          </a:xfrm>
          <a:prstGeom prst="rect">
            <a:avLst/>
          </a:prstGeom>
          <a:noFill/>
        </p:spPr>
        <p:txBody>
          <a:bodyPr wrap="square" lIns="0" rIns="0">
            <a:spAutoFit/>
          </a:bodyPr>
          <a:lstStyle/>
          <a:p>
            <a:pPr algn="l"/>
            <a:r>
              <a:rPr sz="1200" b="0">
                <a:solidFill>
                  <a:srgbClr val="6B7686"/>
                </a:solidFill>
                <a:latin typeface="Calibri"/>
              </a:rPr>
              <a:t>5 steps follow. Tips at the end of the chapter.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SALES REPRESENTATIVE   ·   STEP 1 OF 5</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Your dashboard</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Sales Rep dashboards focus on Commerce — your total orders, low stock items, and a Sales (Shop) workspace.</a:t>
            </a:r>
          </a:p>
        </p:txBody>
      </p:sp>
      <p:pic>
        <p:nvPicPr>
          <p:cNvPr id="5" name="Picture 4" descr="role_sales_rep_dashboard.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SALES REPRESENTATIVE   ·   STEP 2 OF 5</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Open the POS</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Sales &gt; POS. Search products, add to cart, pick a customer, record payment.</a:t>
            </a:r>
          </a:p>
        </p:txBody>
      </p:sp>
      <p:pic>
        <p:nvPicPr>
          <p:cNvPr id="5" name="Picture 4" descr="wf_01_salesrep_pos.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SALES REPRESENTATIVE   ·   STEP 3 OF 5</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Sales list</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Sales &gt; Sales. Your past sales with status (Pending, Approved, Dispatched, Cancelled) and the amount, paid vs balance.</a:t>
            </a:r>
          </a:p>
        </p:txBody>
      </p:sp>
      <p:pic>
        <p:nvPicPr>
          <p:cNvPr id="5" name="Picture 4" descr="wf_02_salesrep_pending.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SALES REPRESENTATIVE   ·   STEP 4 OF 5</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Customers</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Customers. Track existing customers and add new ones. Each customer's sales history is one click away.</a:t>
            </a:r>
          </a:p>
        </p:txBody>
      </p:sp>
      <p:pic>
        <p:nvPicPr>
          <p:cNvPr id="5" name="Picture 4" descr="role_sales_rep_customers.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SALES REPRESENTATIVE   ·   STEP 5 OF 5</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Quotations</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Quotations. Use for written price estimates — does NOT touch stock. Convert into a Sale with one click when the customer commits.</a:t>
            </a:r>
          </a:p>
        </p:txBody>
      </p:sp>
      <p:pic>
        <p:nvPicPr>
          <p:cNvPr id="5" name="Picture 4" descr="role_sales_rep_quotations.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SALES REPRESENTATIVE   ·   TIPS &amp; GOTCHAS</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Things that are easy to miss</a:t>
            </a:r>
          </a:p>
        </p:txBody>
      </p:sp>
      <p:sp>
        <p:nvSpPr>
          <p:cNvPr id="4" name="TextBox 3"/>
          <p:cNvSpPr txBox="1"/>
          <p:nvPr/>
        </p:nvSpPr>
        <p:spPr>
          <a:xfrm>
            <a:off x="548640" y="1645920"/>
            <a:ext cx="10972800" cy="4572000"/>
          </a:xfrm>
          <a:prstGeom prst="rect">
            <a:avLst/>
          </a:prstGeom>
          <a:noFill/>
        </p:spPr>
        <p:txBody>
          <a:bodyPr wrap="square" lIns="0" rIns="0">
            <a:spAutoFit/>
          </a:bodyPr>
          <a:lstStyle/>
          <a:p>
            <a:pPr algn="l"/>
            <a:r>
              <a:rPr sz="1500" b="0">
                <a:solidFill>
                  <a:srgbClr val="141A23"/>
                </a:solidFill>
                <a:latin typeface="Calibri"/>
              </a:rPr>
              <a:t>⚑   Commission is calculated automatically based on the product's category.</a:t>
            </a:r>
          </a:p>
          <a:p>
            <a:pPr algn="l"/>
            <a:r>
              <a:rPr sz="1500" b="0">
                <a:solidFill>
                  <a:srgbClr val="141A23"/>
                </a:solidFill>
                <a:latin typeface="Calibri"/>
              </a:rPr>
              <a:t/>
            </a:r>
          </a:p>
          <a:p>
            <a:pPr algn="l"/>
            <a:r>
              <a:rPr sz="1500" b="0">
                <a:solidFill>
                  <a:srgbClr val="141A23"/>
                </a:solidFill>
                <a:latin typeface="Calibri"/>
              </a:rPr>
              <a:t>⚑   If a product isn't appearing in search, it might be out of stock at your branch.</a:t>
            </a:r>
          </a:p>
          <a:p>
            <a:pPr algn="l"/>
            <a:r>
              <a:rPr sz="1500" b="0">
                <a:solidFill>
                  <a:srgbClr val="141A23"/>
                </a:solidFill>
                <a:latin typeface="Calibri"/>
              </a:rPr>
              <a:t/>
            </a:r>
          </a:p>
          <a:p>
            <a:pPr algn="l"/>
            <a:r>
              <a:rPr sz="1500" b="0">
                <a:solidFill>
                  <a:srgbClr val="141A23"/>
                </a:solidFill>
                <a:latin typeface="Calibri"/>
              </a:rPr>
              <a:t>⚑   Use Quotations for big-ticket items the customer wants to think about.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0"/>
          </a:xfrm>
          <a:prstGeom prst="rect">
            <a:avLst/>
          </a:prstGeom>
          <a:solidFill>
            <a:srgbClr val="405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457200"/>
          </a:xfrm>
          <a:prstGeom prst="rect">
            <a:avLst/>
          </a:prstGeom>
          <a:noFill/>
        </p:spPr>
        <p:txBody>
          <a:bodyPr wrap="square" lIns="0" rIns="0">
            <a:spAutoFit/>
          </a:bodyPr>
          <a:lstStyle/>
          <a:p>
            <a:pPr algn="l"/>
            <a:r>
              <a:rPr sz="1200" b="1">
                <a:solidFill>
                  <a:srgbClr val="DDE3FF"/>
                </a:solidFill>
                <a:latin typeface="Calibri"/>
              </a:rPr>
              <a:t>ROLE</a:t>
            </a:r>
          </a:p>
        </p:txBody>
      </p:sp>
      <p:sp>
        <p:nvSpPr>
          <p:cNvPr id="4" name="TextBox 3"/>
          <p:cNvSpPr txBox="1"/>
          <p:nvPr/>
        </p:nvSpPr>
        <p:spPr>
          <a:xfrm>
            <a:off x="548640" y="640080"/>
            <a:ext cx="10972800" cy="822960"/>
          </a:xfrm>
          <a:prstGeom prst="rect">
            <a:avLst/>
          </a:prstGeom>
          <a:noFill/>
        </p:spPr>
        <p:txBody>
          <a:bodyPr wrap="square" lIns="0" rIns="0">
            <a:spAutoFit/>
          </a:bodyPr>
          <a:lstStyle/>
          <a:p>
            <a:pPr algn="l"/>
            <a:r>
              <a:rPr sz="3200" b="1">
                <a:solidFill>
                  <a:srgbClr val="FFFFFF"/>
                </a:solidFill>
                <a:latin typeface="Calibri"/>
              </a:rPr>
              <a:t>Procurement Officer (Afisa Ugavi)</a:t>
            </a:r>
          </a:p>
        </p:txBody>
      </p:sp>
      <p:sp>
        <p:nvSpPr>
          <p:cNvPr id="5" name="TextBox 4"/>
          <p:cNvSpPr txBox="1"/>
          <p:nvPr/>
        </p:nvSpPr>
        <p:spPr>
          <a:xfrm>
            <a:off x="548640" y="1737360"/>
            <a:ext cx="10972800" cy="457200"/>
          </a:xfrm>
          <a:prstGeom prst="rect">
            <a:avLst/>
          </a:prstGeom>
          <a:noFill/>
        </p:spPr>
        <p:txBody>
          <a:bodyPr wrap="square" lIns="0" rIns="0">
            <a:spAutoFit/>
          </a:bodyPr>
          <a:lstStyle/>
          <a:p>
            <a:pPr algn="l"/>
            <a:r>
              <a:rPr sz="1300" b="1">
                <a:solidFill>
                  <a:srgbClr val="6B7686"/>
                </a:solidFill>
                <a:latin typeface="Calibri"/>
              </a:rPr>
              <a:t>Who does this</a:t>
            </a:r>
          </a:p>
        </p:txBody>
      </p:sp>
      <p:sp>
        <p:nvSpPr>
          <p:cNvPr id="6" name="TextBox 5"/>
          <p:cNvSpPr txBox="1"/>
          <p:nvPr/>
        </p:nvSpPr>
        <p:spPr>
          <a:xfrm>
            <a:off x="548640" y="2148840"/>
            <a:ext cx="10972800" cy="914400"/>
          </a:xfrm>
          <a:prstGeom prst="rect">
            <a:avLst/>
          </a:prstGeom>
          <a:noFill/>
        </p:spPr>
        <p:txBody>
          <a:bodyPr wrap="square" lIns="0" rIns="0">
            <a:spAutoFit/>
          </a:bodyPr>
          <a:lstStyle/>
          <a:p>
            <a:pPr algn="l"/>
            <a:r>
              <a:rPr sz="1800" b="0">
                <a:solidFill>
                  <a:srgbClr val="141A23"/>
                </a:solidFill>
                <a:latin typeface="Calibri"/>
              </a:rPr>
              <a:t>The person responsible for ordering goods from suppliers.</a:t>
            </a:r>
          </a:p>
        </p:txBody>
      </p:sp>
      <p:sp>
        <p:nvSpPr>
          <p:cNvPr id="7" name="TextBox 6"/>
          <p:cNvSpPr txBox="1"/>
          <p:nvPr/>
        </p:nvSpPr>
        <p:spPr>
          <a:xfrm>
            <a:off x="548640" y="3200400"/>
            <a:ext cx="10972800" cy="457200"/>
          </a:xfrm>
          <a:prstGeom prst="rect">
            <a:avLst/>
          </a:prstGeom>
          <a:noFill/>
        </p:spPr>
        <p:txBody>
          <a:bodyPr wrap="square" lIns="0" rIns="0">
            <a:spAutoFit/>
          </a:bodyPr>
          <a:lstStyle/>
          <a:p>
            <a:pPr algn="l"/>
            <a:r>
              <a:rPr sz="1300" b="1">
                <a:solidFill>
                  <a:srgbClr val="6B7686"/>
                </a:solidFill>
                <a:latin typeface="Calibri"/>
              </a:rPr>
              <a:t>Your day, in one paragraph</a:t>
            </a:r>
          </a:p>
        </p:txBody>
      </p:sp>
      <p:sp>
        <p:nvSpPr>
          <p:cNvPr id="8" name="TextBox 7"/>
          <p:cNvSpPr txBox="1"/>
          <p:nvPr/>
        </p:nvSpPr>
        <p:spPr>
          <a:xfrm>
            <a:off x="548640" y="3611880"/>
            <a:ext cx="10972800" cy="2286000"/>
          </a:xfrm>
          <a:prstGeom prst="rect">
            <a:avLst/>
          </a:prstGeom>
          <a:noFill/>
        </p:spPr>
        <p:txBody>
          <a:bodyPr wrap="square" lIns="0" rIns="0">
            <a:spAutoFit/>
          </a:bodyPr>
          <a:lstStyle/>
          <a:p>
            <a:pPr algn="l"/>
            <a:r>
              <a:rPr sz="1700" b="0">
                <a:solidFill>
                  <a:srgbClr val="141A23"/>
                </a:solidFill>
                <a:latin typeface="Calibri"/>
              </a:rPr>
              <a:t>You manage suppliers and raise Purchase Orders. Once goods arrive, the Stock Controller receives them against your PO.</a:t>
            </a:r>
          </a:p>
        </p:txBody>
      </p:sp>
      <p:sp>
        <p:nvSpPr>
          <p:cNvPr id="9" name="TextBox 8"/>
          <p:cNvSpPr txBox="1"/>
          <p:nvPr/>
        </p:nvSpPr>
        <p:spPr>
          <a:xfrm>
            <a:off x="548640" y="6126480"/>
            <a:ext cx="10972800" cy="457200"/>
          </a:xfrm>
          <a:prstGeom prst="rect">
            <a:avLst/>
          </a:prstGeom>
          <a:noFill/>
        </p:spPr>
        <p:txBody>
          <a:bodyPr wrap="square" lIns="0" rIns="0">
            <a:spAutoFit/>
          </a:bodyPr>
          <a:lstStyle/>
          <a:p>
            <a:pPr algn="l"/>
            <a:r>
              <a:rPr sz="1200" b="0">
                <a:solidFill>
                  <a:srgbClr val="6B7686"/>
                </a:solidFill>
                <a:latin typeface="Calibri"/>
              </a:rPr>
              <a:t>5 steps follow. Tips at the end of the chapter.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PROCUREMENT OFFICER (AFISA UGAVI)   ·   STEP 1 OF 5</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Your dashboard</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Procurement dashboards are scoped to Afisa Ugavi tasks.</a:t>
            </a:r>
          </a:p>
        </p:txBody>
      </p:sp>
      <p:pic>
        <p:nvPicPr>
          <p:cNvPr id="5" name="Picture 4" descr="role_procurement_dashboard.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PROCUREMENT OFFICER (AFISA UGAVI)   ·   STEP 2 OF 5</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Manage suppliers</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Inventory &gt; Suppliers. Add new suppliers with their contact info. Each Purchase Order is tied to one supplier.</a:t>
            </a:r>
          </a:p>
        </p:txBody>
      </p:sp>
      <p:pic>
        <p:nvPicPr>
          <p:cNvPr id="5" name="Picture 4" descr="role_procurement_suppliers.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PROCUREMENT OFFICER (AFISA UGAVI)   ·   STEP 3 OF 5</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Purchase Orders</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Inventory &gt; Purchase orders. The PO list shows open, received, and closed POs.</a:t>
            </a:r>
          </a:p>
        </p:txBody>
      </p:sp>
      <p:pic>
        <p:nvPicPr>
          <p:cNvPr id="5" name="Picture 4" descr="role_procurement_purchase_orders.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PROCUREMENT OFFICER (AFISA UGAVI)   ·   STEP 4 OF 5</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Raise a new PO</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Pick the supplier, add the line items (product + quantity + agreed price). The PO is tracked in the system until goods arrive.</a:t>
            </a:r>
          </a:p>
        </p:txBody>
      </p:sp>
      <p:pic>
        <p:nvPicPr>
          <p:cNvPr id="5" name="Picture 4" descr="role_procurement_po_create.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PROCUREMENT OFFICER (AFISA UGAVI)   ·   STEP 5 OF 5</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Inbound fleet</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Inventory &gt; Trucks (for inbound deliveries from suppliers). These are SEPARATE from the outbound Vehicles used by Sales.</a:t>
            </a:r>
          </a:p>
        </p:txBody>
      </p:sp>
      <p:pic>
        <p:nvPicPr>
          <p:cNvPr id="5" name="Picture 4" descr="role_procurement_trucks.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PROCUREMENT OFFICER (AFISA UGAVI)   ·   TIPS &amp; GOTCHAS</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Things that are easy to miss</a:t>
            </a:r>
          </a:p>
        </p:txBody>
      </p:sp>
      <p:sp>
        <p:nvSpPr>
          <p:cNvPr id="4" name="TextBox 3"/>
          <p:cNvSpPr txBox="1"/>
          <p:nvPr/>
        </p:nvSpPr>
        <p:spPr>
          <a:xfrm>
            <a:off x="548640" y="1645920"/>
            <a:ext cx="10972800" cy="4572000"/>
          </a:xfrm>
          <a:prstGeom prst="rect">
            <a:avLst/>
          </a:prstGeom>
          <a:noFill/>
        </p:spPr>
        <p:txBody>
          <a:bodyPr wrap="square" lIns="0" rIns="0">
            <a:spAutoFit/>
          </a:bodyPr>
          <a:lstStyle/>
          <a:p>
            <a:pPr algn="l"/>
            <a:r>
              <a:rPr sz="1500" b="0">
                <a:solidFill>
                  <a:srgbClr val="141A23"/>
                </a:solidFill>
                <a:latin typeface="Calibri"/>
              </a:rPr>
              <a:t>⚑   Trucks (this section) are for INBOUND from suppliers. Vehicles (Sales section) are for OUTBOUND to customers — don't mix them.</a:t>
            </a:r>
          </a:p>
          <a:p>
            <a:pPr algn="l"/>
            <a:r>
              <a:rPr sz="1500" b="0">
                <a:solidFill>
                  <a:srgbClr val="141A23"/>
                </a:solidFill>
                <a:latin typeface="Calibri"/>
              </a:rPr>
              <a:t/>
            </a:r>
          </a:p>
          <a:p>
            <a:pPr algn="l"/>
            <a:r>
              <a:rPr sz="1500" b="0">
                <a:solidFill>
                  <a:srgbClr val="141A23"/>
                </a:solidFill>
                <a:latin typeface="Calibri"/>
              </a:rPr>
              <a:t>⚑   Always raise the PO before the supplier ships — the Stock Controller's GRN matches against it line by line.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0"/>
          </a:xfrm>
          <a:prstGeom prst="rect">
            <a:avLst/>
          </a:prstGeom>
          <a:solidFill>
            <a:srgbClr val="405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457200"/>
          </a:xfrm>
          <a:prstGeom prst="rect">
            <a:avLst/>
          </a:prstGeom>
          <a:noFill/>
        </p:spPr>
        <p:txBody>
          <a:bodyPr wrap="square" lIns="0" rIns="0">
            <a:spAutoFit/>
          </a:bodyPr>
          <a:lstStyle/>
          <a:p>
            <a:pPr algn="l"/>
            <a:r>
              <a:rPr sz="1200" b="1">
                <a:solidFill>
                  <a:srgbClr val="DDE3FF"/>
                </a:solidFill>
                <a:latin typeface="Calibri"/>
              </a:rPr>
              <a:t>ROLE</a:t>
            </a:r>
          </a:p>
        </p:txBody>
      </p:sp>
      <p:sp>
        <p:nvSpPr>
          <p:cNvPr id="4" name="TextBox 3"/>
          <p:cNvSpPr txBox="1"/>
          <p:nvPr/>
        </p:nvSpPr>
        <p:spPr>
          <a:xfrm>
            <a:off x="548640" y="640080"/>
            <a:ext cx="10972800" cy="822960"/>
          </a:xfrm>
          <a:prstGeom prst="rect">
            <a:avLst/>
          </a:prstGeom>
          <a:noFill/>
        </p:spPr>
        <p:txBody>
          <a:bodyPr wrap="square" lIns="0" rIns="0">
            <a:spAutoFit/>
          </a:bodyPr>
          <a:lstStyle/>
          <a:p>
            <a:pPr algn="l"/>
            <a:r>
              <a:rPr sz="3200" b="1">
                <a:solidFill>
                  <a:srgbClr val="FFFFFF"/>
                </a:solidFill>
                <a:latin typeface="Calibri"/>
              </a:rPr>
              <a:t>Stock Controller</a:t>
            </a:r>
          </a:p>
        </p:txBody>
      </p:sp>
      <p:sp>
        <p:nvSpPr>
          <p:cNvPr id="5" name="TextBox 4"/>
          <p:cNvSpPr txBox="1"/>
          <p:nvPr/>
        </p:nvSpPr>
        <p:spPr>
          <a:xfrm>
            <a:off x="548640" y="1737360"/>
            <a:ext cx="10972800" cy="457200"/>
          </a:xfrm>
          <a:prstGeom prst="rect">
            <a:avLst/>
          </a:prstGeom>
          <a:noFill/>
        </p:spPr>
        <p:txBody>
          <a:bodyPr wrap="square" lIns="0" rIns="0">
            <a:spAutoFit/>
          </a:bodyPr>
          <a:lstStyle/>
          <a:p>
            <a:pPr algn="l"/>
            <a:r>
              <a:rPr sz="1300" b="1">
                <a:solidFill>
                  <a:srgbClr val="6B7686"/>
                </a:solidFill>
                <a:latin typeface="Calibri"/>
              </a:rPr>
              <a:t>Who does this</a:t>
            </a:r>
          </a:p>
        </p:txBody>
      </p:sp>
      <p:sp>
        <p:nvSpPr>
          <p:cNvPr id="6" name="TextBox 5"/>
          <p:cNvSpPr txBox="1"/>
          <p:nvPr/>
        </p:nvSpPr>
        <p:spPr>
          <a:xfrm>
            <a:off x="548640" y="2148840"/>
            <a:ext cx="10972800" cy="914400"/>
          </a:xfrm>
          <a:prstGeom prst="rect">
            <a:avLst/>
          </a:prstGeom>
          <a:noFill/>
        </p:spPr>
        <p:txBody>
          <a:bodyPr wrap="square" lIns="0" rIns="0">
            <a:spAutoFit/>
          </a:bodyPr>
          <a:lstStyle/>
          <a:p>
            <a:pPr algn="l"/>
            <a:r>
              <a:rPr sz="1800" b="0">
                <a:solidFill>
                  <a:srgbClr val="141A23"/>
                </a:solidFill>
                <a:latin typeface="Calibri"/>
              </a:rPr>
              <a:t>The receiving clerk who books incoming goods into the system.</a:t>
            </a:r>
          </a:p>
        </p:txBody>
      </p:sp>
      <p:sp>
        <p:nvSpPr>
          <p:cNvPr id="7" name="TextBox 6"/>
          <p:cNvSpPr txBox="1"/>
          <p:nvPr/>
        </p:nvSpPr>
        <p:spPr>
          <a:xfrm>
            <a:off x="548640" y="3200400"/>
            <a:ext cx="10972800" cy="457200"/>
          </a:xfrm>
          <a:prstGeom prst="rect">
            <a:avLst/>
          </a:prstGeom>
          <a:noFill/>
        </p:spPr>
        <p:txBody>
          <a:bodyPr wrap="square" lIns="0" rIns="0">
            <a:spAutoFit/>
          </a:bodyPr>
          <a:lstStyle/>
          <a:p>
            <a:pPr algn="l"/>
            <a:r>
              <a:rPr sz="1300" b="1">
                <a:solidFill>
                  <a:srgbClr val="6B7686"/>
                </a:solidFill>
                <a:latin typeface="Calibri"/>
              </a:rPr>
              <a:t>Your day, in one paragraph</a:t>
            </a:r>
          </a:p>
        </p:txBody>
      </p:sp>
      <p:sp>
        <p:nvSpPr>
          <p:cNvPr id="8" name="TextBox 7"/>
          <p:cNvSpPr txBox="1"/>
          <p:nvPr/>
        </p:nvSpPr>
        <p:spPr>
          <a:xfrm>
            <a:off x="548640" y="3611880"/>
            <a:ext cx="10972800" cy="2286000"/>
          </a:xfrm>
          <a:prstGeom prst="rect">
            <a:avLst/>
          </a:prstGeom>
          <a:noFill/>
        </p:spPr>
        <p:txBody>
          <a:bodyPr wrap="square" lIns="0" rIns="0">
            <a:spAutoFit/>
          </a:bodyPr>
          <a:lstStyle/>
          <a:p>
            <a:pPr algn="l"/>
            <a:r>
              <a:rPr sz="1700" b="0">
                <a:solidFill>
                  <a:srgbClr val="141A23"/>
                </a:solidFill>
                <a:latin typeface="Calibri"/>
              </a:rPr>
              <a:t>When a delivery arrives from a supplier, you receive it against the PO with a Goods Received Note. That's what actually increases stock levels in the system.</a:t>
            </a:r>
          </a:p>
        </p:txBody>
      </p:sp>
      <p:sp>
        <p:nvSpPr>
          <p:cNvPr id="9" name="TextBox 8"/>
          <p:cNvSpPr txBox="1"/>
          <p:nvPr/>
        </p:nvSpPr>
        <p:spPr>
          <a:xfrm>
            <a:off x="548640" y="6126480"/>
            <a:ext cx="10972800" cy="457200"/>
          </a:xfrm>
          <a:prstGeom prst="rect">
            <a:avLst/>
          </a:prstGeom>
          <a:noFill/>
        </p:spPr>
        <p:txBody>
          <a:bodyPr wrap="square" lIns="0" rIns="0">
            <a:spAutoFit/>
          </a:bodyPr>
          <a:lstStyle/>
          <a:p>
            <a:pPr algn="l"/>
            <a:r>
              <a:rPr sz="1200" b="0">
                <a:solidFill>
                  <a:srgbClr val="6B7686"/>
                </a:solidFill>
                <a:latin typeface="Calibri"/>
              </a:rPr>
              <a:t>4 steps follow. Tips at the end of the chapter.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STOCK CONTROLLER   ·   STEP 1 OF 4</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Your dashboard</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Stock Controller dashboards focus on receiving and stock health.</a:t>
            </a:r>
          </a:p>
        </p:txBody>
      </p:sp>
      <p:pic>
        <p:nvPicPr>
          <p:cNvPr id="5" name="Picture 4" descr="role_stock_controller_dashboard.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STOCK CONTROLLER   ·   STEP 2 OF 4</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GRN list</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Inventory &gt; GRNs. See past Goods Received Notes — one per delivery received.</a:t>
            </a:r>
          </a:p>
        </p:txBody>
      </p:sp>
      <p:pic>
        <p:nvPicPr>
          <p:cNvPr id="5" name="Picture 4" descr="role_stock_controller_grns.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STOCK CONTROLLER   ·   STEP 3 OF 4</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Receive goods (new GRN)</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Inventory &gt; GRNs &gt; Create. Pick the matching PO, then enter the quantities ACTUALLY received per product. Stock is added to your branch the moment you save.</a:t>
            </a:r>
          </a:p>
        </p:txBody>
      </p:sp>
      <p:pic>
        <p:nvPicPr>
          <p:cNvPr id="5" name="Picture 4" descr="role_stock_controller_grn_create.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STOCK CONTROLLER   ·   STEP 4 OF 4</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Live stock per branch</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Inventory &gt; Inventory. See current quantities per product per branch. A red badge means the item is at or below the low-stock threshold.</a:t>
            </a:r>
          </a:p>
        </p:txBody>
      </p:sp>
      <p:pic>
        <p:nvPicPr>
          <p:cNvPr id="5" name="Picture 4" descr="role_stock_controller_inventory.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STOCK CONTROLLER   ·   TIPS &amp; GOTCHAS</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Things that are easy to miss</a:t>
            </a:r>
          </a:p>
        </p:txBody>
      </p:sp>
      <p:sp>
        <p:nvSpPr>
          <p:cNvPr id="4" name="TextBox 3"/>
          <p:cNvSpPr txBox="1"/>
          <p:nvPr/>
        </p:nvSpPr>
        <p:spPr>
          <a:xfrm>
            <a:off x="548640" y="1645920"/>
            <a:ext cx="10972800" cy="4572000"/>
          </a:xfrm>
          <a:prstGeom prst="rect">
            <a:avLst/>
          </a:prstGeom>
          <a:noFill/>
        </p:spPr>
        <p:txBody>
          <a:bodyPr wrap="square" lIns="0" rIns="0">
            <a:spAutoFit/>
          </a:bodyPr>
          <a:lstStyle/>
          <a:p>
            <a:pPr algn="l"/>
            <a:r>
              <a:rPr sz="1500" b="0">
                <a:solidFill>
                  <a:srgbClr val="141A23"/>
                </a:solidFill>
                <a:latin typeface="Calibri"/>
              </a:rPr>
              <a:t>⚑   If the GRN quantity is less than the PO quantity, that's normal — the PO stays open for the rest.</a:t>
            </a:r>
          </a:p>
          <a:p>
            <a:pPr algn="l"/>
            <a:r>
              <a:rPr sz="1500" b="0">
                <a:solidFill>
                  <a:srgbClr val="141A23"/>
                </a:solidFill>
                <a:latin typeface="Calibri"/>
              </a:rPr>
              <a:t/>
            </a:r>
          </a:p>
          <a:p>
            <a:pPr algn="l"/>
            <a:r>
              <a:rPr sz="1500" b="0">
                <a:solidFill>
                  <a:srgbClr val="141A23"/>
                </a:solidFill>
                <a:latin typeface="Calibri"/>
              </a:rPr>
              <a:t>⚑   Set sensible low-stock thresholds on each Stock row so the dashboard alerts trigger before you actually run out.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0"/>
          </a:xfrm>
          <a:prstGeom prst="rect">
            <a:avLst/>
          </a:prstGeom>
          <a:solidFill>
            <a:srgbClr val="405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457200"/>
          </a:xfrm>
          <a:prstGeom prst="rect">
            <a:avLst/>
          </a:prstGeom>
          <a:noFill/>
        </p:spPr>
        <p:txBody>
          <a:bodyPr wrap="square" lIns="0" rIns="0">
            <a:spAutoFit/>
          </a:bodyPr>
          <a:lstStyle/>
          <a:p>
            <a:pPr algn="l"/>
            <a:r>
              <a:rPr sz="1200" b="1">
                <a:solidFill>
                  <a:srgbClr val="DDE3FF"/>
                </a:solidFill>
                <a:latin typeface="Calibri"/>
              </a:rPr>
              <a:t>ROLE</a:t>
            </a:r>
          </a:p>
        </p:txBody>
      </p:sp>
      <p:sp>
        <p:nvSpPr>
          <p:cNvPr id="4" name="TextBox 3"/>
          <p:cNvSpPr txBox="1"/>
          <p:nvPr/>
        </p:nvSpPr>
        <p:spPr>
          <a:xfrm>
            <a:off x="548640" y="640080"/>
            <a:ext cx="10972800" cy="822960"/>
          </a:xfrm>
          <a:prstGeom prst="rect">
            <a:avLst/>
          </a:prstGeom>
          <a:noFill/>
        </p:spPr>
        <p:txBody>
          <a:bodyPr wrap="square" lIns="0" rIns="0">
            <a:spAutoFit/>
          </a:bodyPr>
          <a:lstStyle/>
          <a:p>
            <a:pPr algn="l"/>
            <a:r>
              <a:rPr sz="3200" b="1">
                <a:solidFill>
                  <a:srgbClr val="FFFFFF"/>
                </a:solidFill>
                <a:latin typeface="Calibri"/>
              </a:rPr>
              <a:t>Store Keeper</a:t>
            </a:r>
          </a:p>
        </p:txBody>
      </p:sp>
      <p:sp>
        <p:nvSpPr>
          <p:cNvPr id="5" name="TextBox 4"/>
          <p:cNvSpPr txBox="1"/>
          <p:nvPr/>
        </p:nvSpPr>
        <p:spPr>
          <a:xfrm>
            <a:off x="548640" y="1737360"/>
            <a:ext cx="10972800" cy="457200"/>
          </a:xfrm>
          <a:prstGeom prst="rect">
            <a:avLst/>
          </a:prstGeom>
          <a:noFill/>
        </p:spPr>
        <p:txBody>
          <a:bodyPr wrap="square" lIns="0" rIns="0">
            <a:spAutoFit/>
          </a:bodyPr>
          <a:lstStyle/>
          <a:p>
            <a:pPr algn="l"/>
            <a:r>
              <a:rPr sz="1300" b="1">
                <a:solidFill>
                  <a:srgbClr val="6B7686"/>
                </a:solidFill>
                <a:latin typeface="Calibri"/>
              </a:rPr>
              <a:t>Who does this</a:t>
            </a:r>
          </a:p>
        </p:txBody>
      </p:sp>
      <p:sp>
        <p:nvSpPr>
          <p:cNvPr id="6" name="TextBox 5"/>
          <p:cNvSpPr txBox="1"/>
          <p:nvPr/>
        </p:nvSpPr>
        <p:spPr>
          <a:xfrm>
            <a:off x="548640" y="2148840"/>
            <a:ext cx="10972800" cy="914400"/>
          </a:xfrm>
          <a:prstGeom prst="rect">
            <a:avLst/>
          </a:prstGeom>
          <a:noFill/>
        </p:spPr>
        <p:txBody>
          <a:bodyPr wrap="square" lIns="0" rIns="0">
            <a:spAutoFit/>
          </a:bodyPr>
          <a:lstStyle/>
          <a:p>
            <a:pPr algn="l"/>
            <a:r>
              <a:rPr sz="1800" b="0">
                <a:solidFill>
                  <a:srgbClr val="141A23"/>
                </a:solidFill>
                <a:latin typeface="Calibri"/>
              </a:rPr>
              <a:t>The warehouse staff who picks goods for dispatch.</a:t>
            </a:r>
          </a:p>
        </p:txBody>
      </p:sp>
      <p:sp>
        <p:nvSpPr>
          <p:cNvPr id="7" name="TextBox 6"/>
          <p:cNvSpPr txBox="1"/>
          <p:nvPr/>
        </p:nvSpPr>
        <p:spPr>
          <a:xfrm>
            <a:off x="548640" y="3200400"/>
            <a:ext cx="10972800" cy="457200"/>
          </a:xfrm>
          <a:prstGeom prst="rect">
            <a:avLst/>
          </a:prstGeom>
          <a:noFill/>
        </p:spPr>
        <p:txBody>
          <a:bodyPr wrap="square" lIns="0" rIns="0">
            <a:spAutoFit/>
          </a:bodyPr>
          <a:lstStyle/>
          <a:p>
            <a:pPr algn="l"/>
            <a:r>
              <a:rPr sz="1300" b="1">
                <a:solidFill>
                  <a:srgbClr val="6B7686"/>
                </a:solidFill>
                <a:latin typeface="Calibri"/>
              </a:rPr>
              <a:t>Your day, in one paragraph</a:t>
            </a:r>
          </a:p>
        </p:txBody>
      </p:sp>
      <p:sp>
        <p:nvSpPr>
          <p:cNvPr id="8" name="TextBox 7"/>
          <p:cNvSpPr txBox="1"/>
          <p:nvPr/>
        </p:nvSpPr>
        <p:spPr>
          <a:xfrm>
            <a:off x="548640" y="3611880"/>
            <a:ext cx="10972800" cy="2286000"/>
          </a:xfrm>
          <a:prstGeom prst="rect">
            <a:avLst/>
          </a:prstGeom>
          <a:noFill/>
        </p:spPr>
        <p:txBody>
          <a:bodyPr wrap="square" lIns="0" rIns="0">
            <a:spAutoFit/>
          </a:bodyPr>
          <a:lstStyle/>
          <a:p>
            <a:pPr algn="l"/>
            <a:r>
              <a:rPr sz="1700" b="0">
                <a:solidFill>
                  <a:srgbClr val="141A23"/>
                </a:solidFill>
                <a:latin typeface="Calibri"/>
              </a:rPr>
              <a:t>When the Store Manager assigns you a sale on the dispatch board, you go pull the goods, hand them to the driver, and the system records that the order has left.</a:t>
            </a:r>
          </a:p>
        </p:txBody>
      </p:sp>
      <p:sp>
        <p:nvSpPr>
          <p:cNvPr id="9" name="TextBox 8"/>
          <p:cNvSpPr txBox="1"/>
          <p:nvPr/>
        </p:nvSpPr>
        <p:spPr>
          <a:xfrm>
            <a:off x="548640" y="6126480"/>
            <a:ext cx="10972800" cy="457200"/>
          </a:xfrm>
          <a:prstGeom prst="rect">
            <a:avLst/>
          </a:prstGeom>
          <a:noFill/>
        </p:spPr>
        <p:txBody>
          <a:bodyPr wrap="square" lIns="0" rIns="0">
            <a:spAutoFit/>
          </a:bodyPr>
          <a:lstStyle/>
          <a:p>
            <a:pPr algn="l"/>
            <a:r>
              <a:rPr sz="1200" b="0">
                <a:solidFill>
                  <a:srgbClr val="6B7686"/>
                </a:solidFill>
                <a:latin typeface="Calibri"/>
              </a:rPr>
              <a:t>3 steps follow. Tips at the end of the chapter.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STORE KEEPER   ·   STEP 1 OF 3</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Your dashboard</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Store Keeper sees a minimal dashboard — just the stock and sales information needed to pick orders.</a:t>
            </a:r>
          </a:p>
        </p:txBody>
      </p:sp>
      <p:pic>
        <p:nvPicPr>
          <p:cNvPr id="5" name="Picture 4" descr="role_store_keeper_dashboard.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STORE KEEPER   ·   STEP 2 OF 3</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See assignments</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Sales &gt; Dispatch. Filter to orders assigned to you. Each row shows the customer, the products to pick, and the delivery vehicle.</a:t>
            </a:r>
          </a:p>
        </p:txBody>
      </p:sp>
      <p:pic>
        <p:nvPicPr>
          <p:cNvPr id="5" name="Picture 4" descr="wf_03_smgr_orders_pending.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STORE KEEPER   ·   STEP 3 OF 3</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Sales list</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Sales &gt; Sales. Cross-check the sale before picking — confirm the customer, the products, and the quantities.</a:t>
            </a:r>
          </a:p>
        </p:txBody>
      </p:sp>
      <p:pic>
        <p:nvPicPr>
          <p:cNvPr id="5" name="Picture 4" descr="wf_02_salesrep_pending.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STORE KEEPER   ·   TIPS &amp; GOTCHAS</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Things that are easy to miss</a:t>
            </a:r>
          </a:p>
        </p:txBody>
      </p:sp>
      <p:sp>
        <p:nvSpPr>
          <p:cNvPr id="4" name="TextBox 3"/>
          <p:cNvSpPr txBox="1"/>
          <p:nvPr/>
        </p:nvSpPr>
        <p:spPr>
          <a:xfrm>
            <a:off x="548640" y="1645920"/>
            <a:ext cx="10972800" cy="4572000"/>
          </a:xfrm>
          <a:prstGeom prst="rect">
            <a:avLst/>
          </a:prstGeom>
          <a:noFill/>
        </p:spPr>
        <p:txBody>
          <a:bodyPr wrap="square" lIns="0" rIns="0">
            <a:spAutoFit/>
          </a:bodyPr>
          <a:lstStyle/>
          <a:p>
            <a:pPr algn="l"/>
            <a:r>
              <a:rPr sz="1500" b="0">
                <a:solidFill>
                  <a:srgbClr val="141A23"/>
                </a:solidFill>
                <a:latin typeface="Calibri"/>
              </a:rPr>
              <a:t>⚑   If something on the order is short, raise it with the Store Manager BEFORE dispatch — once dispatched the stock is decremented.</a:t>
            </a:r>
          </a:p>
          <a:p>
            <a:pPr algn="l"/>
            <a:r>
              <a:rPr sz="1500" b="0">
                <a:solidFill>
                  <a:srgbClr val="141A23"/>
                </a:solidFill>
                <a:latin typeface="Calibri"/>
              </a:rPr>
              <a:t/>
            </a:r>
          </a:p>
          <a:p>
            <a:pPr algn="l"/>
            <a:r>
              <a:rPr sz="1500" b="0">
                <a:solidFill>
                  <a:srgbClr val="141A23"/>
                </a:solidFill>
                <a:latin typeface="Calibri"/>
              </a:rPr>
              <a:t>⚑   Print the delivery note from the sale's actions menu — it has the customer's address.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0"/>
          </a:xfrm>
          <a:prstGeom prst="rect">
            <a:avLst/>
          </a:prstGeom>
          <a:solidFill>
            <a:srgbClr val="405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457200"/>
          </a:xfrm>
          <a:prstGeom prst="rect">
            <a:avLst/>
          </a:prstGeom>
          <a:noFill/>
        </p:spPr>
        <p:txBody>
          <a:bodyPr wrap="square" lIns="0" rIns="0">
            <a:spAutoFit/>
          </a:bodyPr>
          <a:lstStyle/>
          <a:p>
            <a:pPr algn="l"/>
            <a:r>
              <a:rPr sz="1200" b="1">
                <a:solidFill>
                  <a:srgbClr val="DDE3FF"/>
                </a:solidFill>
                <a:latin typeface="Calibri"/>
              </a:rPr>
              <a:t>ROLE</a:t>
            </a:r>
          </a:p>
        </p:txBody>
      </p:sp>
      <p:sp>
        <p:nvSpPr>
          <p:cNvPr id="4" name="TextBox 3"/>
          <p:cNvSpPr txBox="1"/>
          <p:nvPr/>
        </p:nvSpPr>
        <p:spPr>
          <a:xfrm>
            <a:off x="548640" y="640080"/>
            <a:ext cx="10972800" cy="822960"/>
          </a:xfrm>
          <a:prstGeom prst="rect">
            <a:avLst/>
          </a:prstGeom>
          <a:noFill/>
        </p:spPr>
        <p:txBody>
          <a:bodyPr wrap="square" lIns="0" rIns="0">
            <a:spAutoFit/>
          </a:bodyPr>
          <a:lstStyle/>
          <a:p>
            <a:pPr algn="l"/>
            <a:r>
              <a:rPr sz="3200" b="1">
                <a:solidFill>
                  <a:srgbClr val="FFFFFF"/>
                </a:solidFill>
                <a:latin typeface="Calibri"/>
              </a:rPr>
              <a:t>Accountant</a:t>
            </a:r>
          </a:p>
        </p:txBody>
      </p:sp>
      <p:sp>
        <p:nvSpPr>
          <p:cNvPr id="5" name="TextBox 4"/>
          <p:cNvSpPr txBox="1"/>
          <p:nvPr/>
        </p:nvSpPr>
        <p:spPr>
          <a:xfrm>
            <a:off x="548640" y="1737360"/>
            <a:ext cx="10972800" cy="457200"/>
          </a:xfrm>
          <a:prstGeom prst="rect">
            <a:avLst/>
          </a:prstGeom>
          <a:noFill/>
        </p:spPr>
        <p:txBody>
          <a:bodyPr wrap="square" lIns="0" rIns="0">
            <a:spAutoFit/>
          </a:bodyPr>
          <a:lstStyle/>
          <a:p>
            <a:pPr algn="l"/>
            <a:r>
              <a:rPr sz="1300" b="1">
                <a:solidFill>
                  <a:srgbClr val="6B7686"/>
                </a:solidFill>
                <a:latin typeface="Calibri"/>
              </a:rPr>
              <a:t>Who does this</a:t>
            </a:r>
          </a:p>
        </p:txBody>
      </p:sp>
      <p:sp>
        <p:nvSpPr>
          <p:cNvPr id="6" name="TextBox 5"/>
          <p:cNvSpPr txBox="1"/>
          <p:nvPr/>
        </p:nvSpPr>
        <p:spPr>
          <a:xfrm>
            <a:off x="548640" y="2148840"/>
            <a:ext cx="10972800" cy="914400"/>
          </a:xfrm>
          <a:prstGeom prst="rect">
            <a:avLst/>
          </a:prstGeom>
          <a:noFill/>
        </p:spPr>
        <p:txBody>
          <a:bodyPr wrap="square" lIns="0" rIns="0">
            <a:spAutoFit/>
          </a:bodyPr>
          <a:lstStyle/>
          <a:p>
            <a:pPr algn="l"/>
            <a:r>
              <a:rPr sz="1800" b="0">
                <a:solidFill>
                  <a:srgbClr val="141A23"/>
                </a:solidFill>
                <a:latin typeface="Calibri"/>
              </a:rPr>
              <a:t>The bookkeeper who tracks money in and money out.</a:t>
            </a:r>
          </a:p>
        </p:txBody>
      </p:sp>
      <p:sp>
        <p:nvSpPr>
          <p:cNvPr id="7" name="TextBox 6"/>
          <p:cNvSpPr txBox="1"/>
          <p:nvPr/>
        </p:nvSpPr>
        <p:spPr>
          <a:xfrm>
            <a:off x="548640" y="3200400"/>
            <a:ext cx="10972800" cy="457200"/>
          </a:xfrm>
          <a:prstGeom prst="rect">
            <a:avLst/>
          </a:prstGeom>
          <a:noFill/>
        </p:spPr>
        <p:txBody>
          <a:bodyPr wrap="square" lIns="0" rIns="0">
            <a:spAutoFit/>
          </a:bodyPr>
          <a:lstStyle/>
          <a:p>
            <a:pPr algn="l"/>
            <a:r>
              <a:rPr sz="1300" b="1">
                <a:solidFill>
                  <a:srgbClr val="6B7686"/>
                </a:solidFill>
                <a:latin typeface="Calibri"/>
              </a:rPr>
              <a:t>Your day, in one paragraph</a:t>
            </a:r>
          </a:p>
        </p:txBody>
      </p:sp>
      <p:sp>
        <p:nvSpPr>
          <p:cNvPr id="8" name="TextBox 7"/>
          <p:cNvSpPr txBox="1"/>
          <p:nvPr/>
        </p:nvSpPr>
        <p:spPr>
          <a:xfrm>
            <a:off x="548640" y="3611880"/>
            <a:ext cx="10972800" cy="2286000"/>
          </a:xfrm>
          <a:prstGeom prst="rect">
            <a:avLst/>
          </a:prstGeom>
          <a:noFill/>
        </p:spPr>
        <p:txBody>
          <a:bodyPr wrap="square" lIns="0" rIns="0">
            <a:spAutoFit/>
          </a:bodyPr>
          <a:lstStyle/>
          <a:p>
            <a:pPr algn="l"/>
            <a:r>
              <a:rPr sz="1700" b="0">
                <a:solidFill>
                  <a:srgbClr val="141A23"/>
                </a:solidFill>
                <a:latin typeface="Calibri"/>
              </a:rPr>
              <a:t>You log expenses, supplier payments, tax payments, and other income. The system already tracks sales transactions automatically — you mostly handle the non-sale side.</a:t>
            </a:r>
          </a:p>
        </p:txBody>
      </p:sp>
      <p:sp>
        <p:nvSpPr>
          <p:cNvPr id="9" name="TextBox 8"/>
          <p:cNvSpPr txBox="1"/>
          <p:nvPr/>
        </p:nvSpPr>
        <p:spPr>
          <a:xfrm>
            <a:off x="548640" y="6126480"/>
            <a:ext cx="10972800" cy="457200"/>
          </a:xfrm>
          <a:prstGeom prst="rect">
            <a:avLst/>
          </a:prstGeom>
          <a:noFill/>
        </p:spPr>
        <p:txBody>
          <a:bodyPr wrap="square" lIns="0" rIns="0">
            <a:spAutoFit/>
          </a:bodyPr>
          <a:lstStyle/>
          <a:p>
            <a:pPr algn="l"/>
            <a:r>
              <a:rPr sz="1200" b="0">
                <a:solidFill>
                  <a:srgbClr val="6B7686"/>
                </a:solidFill>
                <a:latin typeface="Calibri"/>
              </a:rPr>
              <a:t>6 steps follow. Tips at the end of the chapter.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ACCOUNTANT   ·   STEP 1 OF 6</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Your dashboard</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Accountant dashboards focus on cash flow — expenses, income, taxes.</a:t>
            </a:r>
          </a:p>
        </p:txBody>
      </p:sp>
      <p:pic>
        <p:nvPicPr>
          <p:cNvPr id="5" name="Picture 4" descr="role_accountant_dashboard.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ACCOUNTANT   ·   STEP 2 OF 6</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Expenses list</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Finance &gt; Expenses. See the running list of recorded expenses, filter by category or date.</a:t>
            </a:r>
          </a:p>
        </p:txBody>
      </p:sp>
      <p:pic>
        <p:nvPicPr>
          <p:cNvPr id="5" name="Picture 4" descr="wf_10_accountant_expenses_list.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ACCOUNTANT   ·   STEP 3 OF 6</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Record an expense</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Finance &gt; Expenses &gt; Add expense. Pick a category, type the amount, attach the receipt photo. The expense lands in the current month's report straight away.</a:t>
            </a:r>
          </a:p>
        </p:txBody>
      </p:sp>
      <p:pic>
        <p:nvPicPr>
          <p:cNvPr id="5" name="Picture 4" descr="wf_09_accountant_expense_form.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ACCOUNTANT   ·   STEP 4 OF 6</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Other income</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Finance &gt; Income. Use for income that ISN'T a product sale (rent received, service income, etc.).</a:t>
            </a:r>
          </a:p>
        </p:txBody>
      </p:sp>
      <p:pic>
        <p:nvPicPr>
          <p:cNvPr id="5" name="Picture 4" descr="role_accountant_income.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ACCOUNTANT   ·   STEP 5 OF 6</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Tax payments</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Finance &gt; Taxes. Pick the tax type (VAT, PAYE, SDL, …), the period, and the amount paid. Keep the TRA receipt number in the reference field.</a:t>
            </a:r>
          </a:p>
        </p:txBody>
      </p:sp>
      <p:pic>
        <p:nvPicPr>
          <p:cNvPr id="5" name="Picture 4" descr="role_accountant_taxes.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ACCOUNTANT   ·   STEP 6 OF 6</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Reports</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Reports. Aging, Profitability by category, Commissions per sales rep, Debtors.</a:t>
            </a:r>
          </a:p>
        </p:txBody>
      </p:sp>
      <p:pic>
        <p:nvPicPr>
          <p:cNvPr id="5" name="Picture 4" descr="role_accountant_reports.png"/>
          <p:cNvPicPr>
            <a:picLocks noChangeAspect="1"/>
          </p:cNvPicPr>
          <p:nvPr/>
        </p:nvPicPr>
        <p:blipFill>
          <a:blip r:embed="rId2"/>
          <a:stretch>
            <a:fillRect/>
          </a:stretch>
        </p:blipFill>
        <p:spPr>
          <a:xfrm>
            <a:off x="5120640" y="1554480"/>
            <a:ext cx="6766560" cy="4458202"/>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ACCOUNTANT   ·   TIPS &amp; GOTCHAS</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Things that are easy to miss</a:t>
            </a:r>
          </a:p>
        </p:txBody>
      </p:sp>
      <p:sp>
        <p:nvSpPr>
          <p:cNvPr id="4" name="TextBox 3"/>
          <p:cNvSpPr txBox="1"/>
          <p:nvPr/>
        </p:nvSpPr>
        <p:spPr>
          <a:xfrm>
            <a:off x="548640" y="1645920"/>
            <a:ext cx="10972800" cy="4572000"/>
          </a:xfrm>
          <a:prstGeom prst="rect">
            <a:avLst/>
          </a:prstGeom>
          <a:noFill/>
        </p:spPr>
        <p:txBody>
          <a:bodyPr wrap="square" lIns="0" rIns="0">
            <a:spAutoFit/>
          </a:bodyPr>
          <a:lstStyle/>
          <a:p>
            <a:pPr algn="l"/>
            <a:r>
              <a:rPr sz="1500" b="0">
                <a:solidFill>
                  <a:srgbClr val="141A23"/>
                </a:solidFill>
                <a:latin typeface="Calibri"/>
              </a:rPr>
              <a:t>⚑   Always attach a receipt image to expenses — Tanzanian audits are picky and the system stores them with the row.</a:t>
            </a:r>
          </a:p>
          <a:p>
            <a:pPr algn="l"/>
            <a:r>
              <a:rPr sz="1500" b="0">
                <a:solidFill>
                  <a:srgbClr val="141A23"/>
                </a:solidFill>
                <a:latin typeface="Calibri"/>
              </a:rPr>
              <a:t/>
            </a:r>
          </a:p>
          <a:p>
            <a:pPr algn="l"/>
            <a:r>
              <a:rPr sz="1500" b="0">
                <a:solidFill>
                  <a:srgbClr val="141A23"/>
                </a:solidFill>
                <a:latin typeface="Calibri"/>
              </a:rPr>
              <a:t>⚑   The Debtors report uses Sale.total_amount minus sum of Transactions — make sure cash payments are entered, otherwise the customer looks like a debtor.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0"/>
          </a:xfrm>
          <a:prstGeom prst="rect">
            <a:avLst/>
          </a:prstGeom>
          <a:solidFill>
            <a:srgbClr val="7A2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457200"/>
          </a:xfrm>
          <a:prstGeom prst="rect">
            <a:avLst/>
          </a:prstGeom>
          <a:noFill/>
        </p:spPr>
        <p:txBody>
          <a:bodyPr wrap="square" lIns="0" rIns="0">
            <a:spAutoFit/>
          </a:bodyPr>
          <a:lstStyle/>
          <a:p>
            <a:pPr algn="l"/>
            <a:r>
              <a:rPr sz="1200" b="1">
                <a:solidFill>
                  <a:srgbClr val="DDE3FF"/>
                </a:solidFill>
                <a:latin typeface="Calibri"/>
              </a:rPr>
              <a:t>MOBILE APP</a:t>
            </a:r>
          </a:p>
        </p:txBody>
      </p:sp>
      <p:sp>
        <p:nvSpPr>
          <p:cNvPr id="4" name="TextBox 3"/>
          <p:cNvSpPr txBox="1"/>
          <p:nvPr/>
        </p:nvSpPr>
        <p:spPr>
          <a:xfrm>
            <a:off x="548640" y="640080"/>
            <a:ext cx="10972800" cy="822960"/>
          </a:xfrm>
          <a:prstGeom prst="rect">
            <a:avLst/>
          </a:prstGeom>
          <a:noFill/>
        </p:spPr>
        <p:txBody>
          <a:bodyPr wrap="square" lIns="0" rIns="0">
            <a:spAutoFit/>
          </a:bodyPr>
          <a:lstStyle/>
          <a:p>
            <a:pPr algn="l"/>
            <a:r>
              <a:rPr sz="3200" b="1">
                <a:solidFill>
                  <a:srgbClr val="FFFFFF"/>
                </a:solidFill>
                <a:latin typeface="Calibri"/>
              </a:rPr>
              <a:t>Mobile companion app (Umoja Pro)</a:t>
            </a:r>
          </a:p>
        </p:txBody>
      </p:sp>
      <p:sp>
        <p:nvSpPr>
          <p:cNvPr id="5" name="TextBox 4"/>
          <p:cNvSpPr txBox="1"/>
          <p:nvPr/>
        </p:nvSpPr>
        <p:spPr>
          <a:xfrm>
            <a:off x="548640" y="1737360"/>
            <a:ext cx="10972800" cy="457200"/>
          </a:xfrm>
          <a:prstGeom prst="rect">
            <a:avLst/>
          </a:prstGeom>
          <a:noFill/>
        </p:spPr>
        <p:txBody>
          <a:bodyPr wrap="square" lIns="0" rIns="0">
            <a:spAutoFit/>
          </a:bodyPr>
          <a:lstStyle/>
          <a:p>
            <a:pPr algn="l"/>
            <a:r>
              <a:rPr sz="1300" b="1">
                <a:solidFill>
                  <a:srgbClr val="6B7686"/>
                </a:solidFill>
                <a:latin typeface="Calibri"/>
              </a:rPr>
              <a:t>Who does this</a:t>
            </a:r>
          </a:p>
        </p:txBody>
      </p:sp>
      <p:sp>
        <p:nvSpPr>
          <p:cNvPr id="6" name="TextBox 5"/>
          <p:cNvSpPr txBox="1"/>
          <p:nvPr/>
        </p:nvSpPr>
        <p:spPr>
          <a:xfrm>
            <a:off x="548640" y="2148840"/>
            <a:ext cx="10972800" cy="914400"/>
          </a:xfrm>
          <a:prstGeom prst="rect">
            <a:avLst/>
          </a:prstGeom>
          <a:noFill/>
        </p:spPr>
        <p:txBody>
          <a:bodyPr wrap="square" lIns="0" rIns="0">
            <a:spAutoFit/>
          </a:bodyPr>
          <a:lstStyle/>
          <a:p>
            <a:pPr algn="l"/>
            <a:r>
              <a:rPr sz="1800" b="0">
                <a:solidFill>
                  <a:srgbClr val="141A23"/>
                </a:solidFill>
                <a:latin typeface="Calibri"/>
              </a:rPr>
              <a:t>Sales reps and field staff who work away from a desktop.</a:t>
            </a:r>
          </a:p>
        </p:txBody>
      </p:sp>
      <p:sp>
        <p:nvSpPr>
          <p:cNvPr id="7" name="TextBox 6"/>
          <p:cNvSpPr txBox="1"/>
          <p:nvPr/>
        </p:nvSpPr>
        <p:spPr>
          <a:xfrm>
            <a:off x="548640" y="3200400"/>
            <a:ext cx="10972800" cy="457200"/>
          </a:xfrm>
          <a:prstGeom prst="rect">
            <a:avLst/>
          </a:prstGeom>
          <a:noFill/>
        </p:spPr>
        <p:txBody>
          <a:bodyPr wrap="square" lIns="0" rIns="0">
            <a:spAutoFit/>
          </a:bodyPr>
          <a:lstStyle/>
          <a:p>
            <a:pPr algn="l"/>
            <a:r>
              <a:rPr sz="1300" b="1">
                <a:solidFill>
                  <a:srgbClr val="6B7686"/>
                </a:solidFill>
                <a:latin typeface="Calibri"/>
              </a:rPr>
              <a:t>Your day, in one paragraph</a:t>
            </a:r>
          </a:p>
        </p:txBody>
      </p:sp>
      <p:sp>
        <p:nvSpPr>
          <p:cNvPr id="8" name="TextBox 7"/>
          <p:cNvSpPr txBox="1"/>
          <p:nvPr/>
        </p:nvSpPr>
        <p:spPr>
          <a:xfrm>
            <a:off x="548640" y="3611880"/>
            <a:ext cx="10972800" cy="2286000"/>
          </a:xfrm>
          <a:prstGeom prst="rect">
            <a:avLst/>
          </a:prstGeom>
          <a:noFill/>
        </p:spPr>
        <p:txBody>
          <a:bodyPr wrap="square" lIns="0" rIns="0">
            <a:spAutoFit/>
          </a:bodyPr>
          <a:lstStyle/>
          <a:p>
            <a:pPr algn="l"/>
            <a:r>
              <a:rPr sz="1700" b="0">
                <a:solidFill>
                  <a:srgbClr val="141A23"/>
                </a:solidFill>
                <a:latin typeface="Calibri"/>
              </a:rPr>
              <a:t>Umoja Pro is the Flutter mobile app for Android phones. It signs in with the same username/password as the web site and uses the same data — the four tabs cover the daily field-sales tasks.</a:t>
            </a:r>
          </a:p>
        </p:txBody>
      </p:sp>
      <p:sp>
        <p:nvSpPr>
          <p:cNvPr id="9" name="TextBox 8"/>
          <p:cNvSpPr txBox="1"/>
          <p:nvPr/>
        </p:nvSpPr>
        <p:spPr>
          <a:xfrm>
            <a:off x="548640" y="6126480"/>
            <a:ext cx="10972800" cy="457200"/>
          </a:xfrm>
          <a:prstGeom prst="rect">
            <a:avLst/>
          </a:prstGeom>
          <a:noFill/>
        </p:spPr>
        <p:txBody>
          <a:bodyPr wrap="square" lIns="0" rIns="0">
            <a:spAutoFit/>
          </a:bodyPr>
          <a:lstStyle/>
          <a:p>
            <a:pPr algn="l"/>
            <a:r>
              <a:rPr sz="1200" b="0">
                <a:solidFill>
                  <a:srgbClr val="6B7686"/>
                </a:solidFill>
                <a:latin typeface="Calibri"/>
              </a:rPr>
              <a:t>3 steps follow. Tips at the end of the chapter.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MOBILE COMPANION APP (UMOJA PRO)   ·   STEP 1 OF 3</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Sign in</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Open Umoja Pro from the app drawer. The icon is the Umoja Hardware logo. Type your username and password and tap Sign in. The app remembers your token so you stay signed in across launches — sign out from the profile menu in the app bar.</a:t>
            </a:r>
          </a:p>
        </p:txBody>
      </p:sp>
      <p:pic>
        <p:nvPicPr>
          <p:cNvPr id="5" name="Picture 4" descr="mobile_01_login.png"/>
          <p:cNvPicPr>
            <a:picLocks noChangeAspect="1"/>
          </p:cNvPicPr>
          <p:nvPr/>
        </p:nvPicPr>
        <p:blipFill>
          <a:blip r:embed="rId2"/>
          <a:stretch>
            <a:fillRect/>
          </a:stretch>
        </p:blipFill>
        <p:spPr>
          <a:xfrm>
            <a:off x="6858000" y="1463040"/>
            <a:ext cx="2304288" cy="5120640"/>
          </a:xfrm>
          <a:prstGeom prst="rect">
            <a:avLst/>
          </a:prstGeom>
        </p:spPr>
      </p:pic>
      <p:sp>
        <p:nvSpPr>
          <p:cNvPr id="6" name="TextBox 5"/>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MOBILE COMPANION APP (UMOJA PRO)   ·   STEP 2 OF 3</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Four tabs at the bottom</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After login the app shows a four-tab bottom bar:</a:t>
            </a:r>
          </a:p>
          <a:p>
            <a:pPr algn="l"/>
            <a:r>
              <a:rPr sz="1400" b="0">
                <a:solidFill>
                  <a:srgbClr val="141A23"/>
                </a:solidFill>
                <a:latin typeface="Calibri"/>
              </a:rPr>
              <a:t/>
            </a:r>
          </a:p>
          <a:p>
            <a:pPr algn="l"/>
            <a:r>
              <a:rPr sz="1400" b="0">
                <a:solidFill>
                  <a:srgbClr val="141A23"/>
                </a:solidFill>
                <a:latin typeface="Calibri"/>
              </a:rPr>
              <a:t>  • POS — open a new sale, search products, take payment.</a:t>
            </a:r>
          </a:p>
          <a:p>
            <a:pPr algn="l"/>
            <a:r>
              <a:rPr sz="1400" b="0">
                <a:solidFill>
                  <a:srgbClr val="141A23"/>
                </a:solidFill>
                <a:latin typeface="Calibri"/>
              </a:rPr>
              <a:t>  • Stock — see current stock per branch, with low-stock alerts.</a:t>
            </a:r>
          </a:p>
          <a:p>
            <a:pPr algn="l"/>
            <a:r>
              <a:rPr sz="1400" b="0">
                <a:solidFill>
                  <a:srgbClr val="141A23"/>
                </a:solidFill>
                <a:latin typeface="Calibri"/>
              </a:rPr>
              <a:t>  • Quotes — list of quotations; tap to convert to a sale.</a:t>
            </a:r>
          </a:p>
          <a:p>
            <a:pPr algn="l"/>
            <a:r>
              <a:rPr sz="1400" b="0">
                <a:solidFill>
                  <a:srgbClr val="141A23"/>
                </a:solidFill>
                <a:latin typeface="Calibri"/>
              </a:rPr>
              <a:t>  • Customers — directory; add new customers; see a customer's sales history.</a:t>
            </a:r>
          </a:p>
          <a:p>
            <a:pPr algn="l"/>
            <a:r>
              <a:rPr sz="1400" b="0">
                <a:solidFill>
                  <a:srgbClr val="141A23"/>
                </a:solidFill>
                <a:latin typeface="Calibri"/>
              </a:rPr>
              <a:t/>
            </a:r>
          </a:p>
          <a:p>
            <a:pPr algn="l"/>
            <a:r>
              <a:rPr sz="1400" b="0">
                <a:solidFill>
                  <a:srgbClr val="141A23"/>
                </a:solidFill>
                <a:latin typeface="Calibri"/>
              </a:rPr>
              <a:t>Each tab pulls the same data as the website over HTTPS to umoja.ehub.co.tz.</a:t>
            </a:r>
          </a:p>
        </p:txBody>
      </p:sp>
      <p:sp>
        <p:nvSpPr>
          <p:cNvPr id="5" name="TextBox 4"/>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MOBILE COMPANION APP (UMOJA PRO)   ·   STEP 3 OF 3</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Talks to the same backend</a:t>
            </a:r>
          </a:p>
        </p:txBody>
      </p:sp>
      <p:sp>
        <p:nvSpPr>
          <p:cNvPr id="4" name="TextBox 3"/>
          <p:cNvSpPr txBox="1"/>
          <p:nvPr/>
        </p:nvSpPr>
        <p:spPr>
          <a:xfrm>
            <a:off x="548640" y="1554480"/>
            <a:ext cx="4389120" cy="4937760"/>
          </a:xfrm>
          <a:prstGeom prst="rect">
            <a:avLst/>
          </a:prstGeom>
          <a:noFill/>
        </p:spPr>
        <p:txBody>
          <a:bodyPr wrap="square" lIns="0" rIns="0">
            <a:spAutoFit/>
          </a:bodyPr>
          <a:lstStyle/>
          <a:p>
            <a:pPr algn="l"/>
            <a:r>
              <a:rPr sz="1400" b="0">
                <a:solidFill>
                  <a:srgbClr val="141A23"/>
                </a:solidFill>
                <a:latin typeface="Calibri"/>
              </a:rPr>
              <a:t>The app calls /api-token-auth/ once for the token, then uses every other /api/ endpoint with that token in the Authorization header. Sales created on the phone show up in the Manager's Order Management screen on the website in real time, and stock deductions broadcast over WebSocket so other devices update without a refresh.</a:t>
            </a:r>
          </a:p>
        </p:txBody>
      </p:sp>
      <p:sp>
        <p:nvSpPr>
          <p:cNvPr id="5" name="TextBox 4"/>
          <p:cNvSpPr txBox="1"/>
          <p:nvPr/>
        </p:nvSpPr>
        <p:spPr>
          <a:xfrm>
            <a:off x="548640" y="6446520"/>
            <a:ext cx="10972800" cy="274320"/>
          </a:xfrm>
          <a:prstGeom prst="rect">
            <a:avLst/>
          </a:prstGeom>
          <a:noFill/>
        </p:spPr>
        <p:txBody>
          <a:bodyPr wrap="square" lIns="0" rIns="0">
            <a:spAutoFit/>
          </a:bodyPr>
          <a:lstStyle/>
          <a:p>
            <a:pPr algn="l"/>
            <a:r>
              <a:rPr sz="1000" b="0">
                <a:solidFill>
                  <a:srgbClr val="6B7686"/>
                </a:solidFill>
                <a:latin typeface="Calibri"/>
              </a:rPr>
              <a:t>Umoja Hardware · User Guide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74320"/>
            <a:ext cx="10972800" cy="365760"/>
          </a:xfrm>
          <a:prstGeom prst="rect">
            <a:avLst/>
          </a:prstGeom>
          <a:noFill/>
        </p:spPr>
        <p:txBody>
          <a:bodyPr wrap="square" lIns="0" rIns="0">
            <a:spAutoFit/>
          </a:bodyPr>
          <a:lstStyle/>
          <a:p>
            <a:pPr algn="l"/>
            <a:r>
              <a:rPr sz="1000" b="1">
                <a:solidFill>
                  <a:srgbClr val="6B7686"/>
                </a:solidFill>
                <a:latin typeface="Calibri"/>
              </a:rPr>
              <a:t>MOBILE COMPANION APP (UMOJA PRO)   ·   TIPS &amp; GOTCHAS</a:t>
            </a:r>
          </a:p>
        </p:txBody>
      </p:sp>
      <p:sp>
        <p:nvSpPr>
          <p:cNvPr id="3" name="TextBox 2"/>
          <p:cNvSpPr txBox="1"/>
          <p:nvPr/>
        </p:nvSpPr>
        <p:spPr>
          <a:xfrm>
            <a:off x="548640" y="640080"/>
            <a:ext cx="10972800" cy="731520"/>
          </a:xfrm>
          <a:prstGeom prst="rect">
            <a:avLst/>
          </a:prstGeom>
          <a:noFill/>
        </p:spPr>
        <p:txBody>
          <a:bodyPr wrap="square" lIns="0" rIns="0">
            <a:spAutoFit/>
          </a:bodyPr>
          <a:lstStyle/>
          <a:p>
            <a:pPr algn="l"/>
            <a:r>
              <a:rPr sz="2400" b="1">
                <a:solidFill>
                  <a:srgbClr val="141A23"/>
                </a:solidFill>
                <a:latin typeface="Calibri"/>
              </a:rPr>
              <a:t>Things that are easy to miss</a:t>
            </a:r>
          </a:p>
        </p:txBody>
      </p:sp>
      <p:sp>
        <p:nvSpPr>
          <p:cNvPr id="4" name="TextBox 3"/>
          <p:cNvSpPr txBox="1"/>
          <p:nvPr/>
        </p:nvSpPr>
        <p:spPr>
          <a:xfrm>
            <a:off x="548640" y="1645920"/>
            <a:ext cx="10972800" cy="4572000"/>
          </a:xfrm>
          <a:prstGeom prst="rect">
            <a:avLst/>
          </a:prstGeom>
          <a:noFill/>
        </p:spPr>
        <p:txBody>
          <a:bodyPr wrap="square" lIns="0" rIns="0">
            <a:spAutoFit/>
          </a:bodyPr>
          <a:lstStyle/>
          <a:p>
            <a:pPr algn="l"/>
            <a:r>
              <a:rPr sz="1500" b="0">
                <a:solidFill>
                  <a:srgbClr val="141A23"/>
                </a:solidFill>
                <a:latin typeface="Calibri"/>
              </a:rPr>
              <a:t>⚑   If the Sign-in button does nothing, you're probably on the office Wi-Fi but the API URL is the local default. Reinstall a build made with --dart-define=API_BASE_URL=https://umoja.ehub.co.tz.</a:t>
            </a:r>
          </a:p>
          <a:p>
            <a:pPr algn="l"/>
            <a:r>
              <a:rPr sz="1500" b="0">
                <a:solidFill>
                  <a:srgbClr val="141A23"/>
                </a:solidFill>
                <a:latin typeface="Calibri"/>
              </a:rPr>
              <a:t/>
            </a:r>
          </a:p>
          <a:p>
            <a:pPr algn="l"/>
            <a:r>
              <a:rPr sz="1500" b="0">
                <a:solidFill>
                  <a:srgbClr val="141A23"/>
                </a:solidFill>
                <a:latin typeface="Calibri"/>
              </a:rPr>
              <a:t>⚑   Pull-to-refresh on each tab to force a re-fetch.</a:t>
            </a:r>
          </a:p>
          <a:p>
            <a:pPr algn="l"/>
            <a:r>
              <a:rPr sz="1500" b="0">
                <a:solidFill>
                  <a:srgbClr val="141A23"/>
                </a:solidFill>
                <a:latin typeface="Calibri"/>
              </a:rPr>
              <a:t/>
            </a:r>
          </a:p>
          <a:p>
            <a:pPr algn="l"/>
            <a:r>
              <a:rPr sz="1500" b="0">
                <a:solidFill>
                  <a:srgbClr val="141A23"/>
                </a:solidFill>
                <a:latin typeface="Calibri"/>
              </a:rPr>
              <a:t>⚑   Sign out from the profile menu in the app bar; this clears the token from secure storage.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972800" cy="822960"/>
          </a:xfrm>
          <a:prstGeom prst="rect">
            <a:avLst/>
          </a:prstGeom>
          <a:noFill/>
        </p:spPr>
        <p:txBody>
          <a:bodyPr wrap="square" lIns="0" rIns="0">
            <a:spAutoFit/>
          </a:bodyPr>
          <a:lstStyle/>
          <a:p>
            <a:pPr algn="l"/>
            <a:r>
              <a:rPr sz="4400" b="1">
                <a:solidFill>
                  <a:srgbClr val="FFFFFF"/>
                </a:solidFill>
                <a:latin typeface="Calibri"/>
              </a:rPr>
              <a:t>Stuck?</a:t>
            </a:r>
          </a:p>
        </p:txBody>
      </p:sp>
      <p:sp>
        <p:nvSpPr>
          <p:cNvPr id="4" name="TextBox 3"/>
          <p:cNvSpPr txBox="1"/>
          <p:nvPr/>
        </p:nvSpPr>
        <p:spPr>
          <a:xfrm>
            <a:off x="548640" y="3383280"/>
            <a:ext cx="10972800" cy="2286000"/>
          </a:xfrm>
          <a:prstGeom prst="rect">
            <a:avLst/>
          </a:prstGeom>
          <a:noFill/>
        </p:spPr>
        <p:txBody>
          <a:bodyPr wrap="square" lIns="0" rIns="0">
            <a:spAutoFit/>
          </a:bodyPr>
          <a:lstStyle/>
          <a:p>
            <a:pPr algn="l"/>
            <a:r>
              <a:rPr sz="1800" b="0">
                <a:solidFill>
                  <a:srgbClr val="DDE3FF"/>
                </a:solidFill>
                <a:latin typeface="Calibri"/>
              </a:rPr>
              <a:t>•  Try the menu path written in each step.</a:t>
            </a:r>
          </a:p>
          <a:p>
            <a:pPr algn="l"/>
            <a:r>
              <a:rPr sz="1800" b="0">
                <a:solidFill>
                  <a:srgbClr val="DDE3FF"/>
                </a:solidFill>
                <a:latin typeface="Calibri"/>
              </a:rPr>
              <a:t>•  Refresh the page (Ctrl+R) — the live activity feed reconnects automatically.</a:t>
            </a:r>
          </a:p>
          <a:p>
            <a:pPr algn="l"/>
            <a:r>
              <a:rPr sz="1800" b="0">
                <a:solidFill>
                  <a:srgbClr val="DDE3FF"/>
                </a:solidFill>
                <a:latin typeface="Calibri"/>
              </a:rPr>
              <a:t>•  If a button is missing, your role probably doesn't have permission — ask the System Administrator.</a:t>
            </a:r>
          </a:p>
          <a:p>
            <a:pPr algn="l"/>
            <a:r>
              <a:rPr sz="1800" b="0">
                <a:solidFill>
                  <a:srgbClr val="DDE3FF"/>
                </a:solidFill>
                <a:latin typeface="Calibri"/>
              </a:rPr>
              <a:t>•  Production URL: https://umoja.ehub.co.tz</a:t>
            </a:r>
          </a:p>
          <a:p>
            <a:pPr algn="l"/>
            <a:r>
              <a:rPr sz="1800" b="0">
                <a:solidFill>
                  <a:srgbClr val="DDE3FF"/>
                </a:solidFill>
                <a:latin typeface="Calibri"/>
              </a:rPr>
              <a:t>•  Mobile app: install Umoja Pro from your IT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